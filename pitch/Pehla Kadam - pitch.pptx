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49f9bdd5-7a51-d699-0243-82d0526d0fb4}">
          <p14:sldIdLst>
            <p14:sldId id="256"/>
            <p14:sldId id="257"/>
            <p14:sldId id="258"/>
          </p14:sldIdLst>
        </p14:section>
        <p14:section name="The idea" id="{e4aaf83a-6ef7-512c-8299-7ef7b484a8e8}">
          <p14:sldIdLst>
            <p14:sldId id="259"/>
            <p14:sldId id="260"/>
            <p14:sldId id="261"/>
          </p14:sldIdLst>
        </p14:section>
        <p14:section name="The product" id="{effc4795-b051-8af6-02db-eb3e30912d47}">
          <p14:sldIdLst>
            <p14:sldId id="262"/>
            <p14:sldId id="263"/>
            <p14:sldId id="264"/>
            <p14:sldId id="265"/>
            <p14:sldId id="266"/>
          </p14:sldIdLst>
        </p14:section>
        <p14:section name="Build and next steps" id="{75445ae2-16d9-cfd4-9d76-4b88c5015ca9}">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We are [team name]. Pehla Kadam means “first step”. It is a practice demat account for first-time investors, especially women in tier-2 and tier-3 towns. Unlike a trading game, it teaches what happens at the depository: settlement, alerts, statements, corporate actions, nominees and scam protection. Everything you will see is a working prototype you can open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first-time investor downloads a broker app and sees a price, a chart and a green number. Nobody shows them where the shares actually live, why they arrive the next day, who keeps them safe, or what to do when a stranger asks for an OTP. That missing layer is CDSL’s world: the depository. It is exactly where confidence, and protection,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for a woman in Indore, Nashik or Gorakhpur opening her first demat account. Everything is in Hindi and English, nothing is at risk, and it works on a basic phone. Sakhi, an in-app guide, explains each step at the moment it happens, instead of in a glossary nobody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line: a practice demat account where every action teaches what the depository does. Learners get one lakh rupees of practice money, ten familiar large companies with clearly labelled simulated prices, and a “Next day” button that moves the calendar so settlement, dividends and statements actually happen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runs on a simulated calendar. A learner buys twenty ITC shares on day one; the money goes immediately, but the shares arrive the next trading day with a CDSL alert. That is T+1 settlement, felt rather than read. Then the dividend lands on its record date, Infosys does a bonus, Asian Paints splits, and at month end the CAS statement arrives. Each event opens a short lesson showing what happened to their own holdings.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eight flows, and every button works end to end. Each one teaches the concept behind it: account opening, buying and selling with T+1 and TPIN, the CAS statement, corporate actions, pledging and its risks, nomination, e-voting, and a Scam Shield game. Sixteen short lessons from Sakhi back them up, in both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 from the prototype. First, the CDSL alerts that arrive when shares settle. Second, a dividend lesson that starts with what happened to the learner’s own holding. Third, selling: CDSL asks for the TPIN, so the learner sees that nobody can move their shares without them. Fourth, the monthly CAS statement, with nominee status and a checklist of what to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is built into the learning, not added as a warning banner. Scam Shield shows five realistic WhatsApp messages and asks: safe or scam? Every answer explains the red flags and how to check SEBI registration. The nominee prompt appears right after the account opens, and skipping it explains what a family would go through. And because every sale and pledge needs the learner’s own TPIN or OTP, they learn that nobody else can move their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full-page dashboard pulls it together: the learner’s worth against an equal-weight market and against just keeping cash, daily gains and losses, holdings, a ledger of every depository event tagged T or T+1, income from corporate actions, and a safety check that links to whatever still needs fixing. It updates live while the app is open in another tab, and before you start it shows a clearly labelled example learner.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practice account is only useful if it is still there tomorrow. On the hosted claude.ai page, progress saves to the learner’s own claude.ai account automatically, with no PIN to remember, and comes back on any device. On our own server, learners back up with their mobile number and a PIN. Either way, personal details like PAN, Aadhaar and mobile, and every trade, stay in the learner’s private space; facilitators only ever see names and progress. And with no network, the app keeps working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sticks better in groups. A self-help-group leader or NGO trainer opens the facilitator view inside the app, creates a group and shares its six-letter code; learners join from their own phone. The facilitator sees who has opened an account, who is stuck at which step, who has not added a nominee, and which scam messages still fool the group. On the hosted page, anyone the owner shares it with as an editor becomes a facilitator. Across all learners, an anonymous insights page tells CDSL which concepts confuse new investors most. This screen uses our seeded demo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learner app is a single 239-kilobyte HTML file. It needs no network, no sign-up and no app store, so it runs on a basic phone. It can sync two ways. Hosted on claude.ai, it uses the page’s built-in database: backup, groups and insights work with nothing to deploy, for people in our organization. On our own Node.js and SQLite server, which can run on any public URL including Render’s free plan, the server never trusts the phone: it replays every trade against the same simulated price engine and refuses anything that does not add up, then writes a proper depository ledger. Twenty-four automated tests cover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next steps. First, a pilot with a few depository participants and self-help-group networks, measuring confidence with a short quiz before and after. Second, more languages; every string already lives in one translation object, so adding Marathi or Tamil is translation work, not engineering. Third, a bridge to the real thing: when a learner is ready, a guided hand-off to opening an actual demat account with a DP, using the same alert and statement formats they practised with. The bracketed items are ours to fill in with CDSL.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try it yourselves: it takes about three minutes. Open an account with demo details, buy some ITC on day one, tap “Next day” and watch the CDSL alert and then the dividend arrive. Open the CAS statement and the dashboard, and try Scam Shield. Pehla Kadam is the first step to becoming an Atmanirbhar investor.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r>
              <a:rPr lang="en-US" sz="1200" b="1" spc="200" kern="0" dirty="0">
                <a:solidFill>
                  <a:schemeClr val="accent1"/>
                </a:solidFill>
              </a:rPr>
              <a:t>Eyebrow</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r>
              <a:rPr lang="en-US" sz="1200" b="1" spc="200" kern="0" dirty="0">
                <a:solidFill>
                  <a:schemeClr val="accent4"/>
                </a:solidFill>
              </a:rPr>
              <a:t>Eyebrow</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r>
              <a:rPr lang="en-US" sz="3600" b="1" dirty="0">
                <a:solidFill>
                  <a:schemeClr val="bg2"/>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PICTURE">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r>
              <a:rPr lang="en-US" sz="1200" b="1" spc="200" kern="0" dirty="0">
                <a:solidFill>
                  <a:schemeClr val="accent1"/>
                </a:solidFill>
              </a:rPr>
              <a:t>Eyebrow</a:t>
            </a:r>
            <a:endParaRPr lang="en-US" sz="1200" dirty="0"/>
          </a:p>
        </p:txBody>
      </p:sp>
      <p:sp>
        <p:nvSpPr>
          <p:cNvPr id="3" name="Text 0"/>
          <p:cNvSpPr/>
          <p:nvPr>
            <p:ph idx="101" type="title" hasCustomPrompt="1"/>
          </p:nvPr>
        </p:nvSpPr>
        <p:spPr>
          <a:xfrm>
            <a:off x="813816" y="1051560"/>
            <a:ext cx="7863840" cy="10972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PICTUR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r>
              <a:rPr lang="en-US" sz="1200" b="1" spc="200" kern="0" dirty="0">
                <a:solidFill>
                  <a:schemeClr val="accent4"/>
                </a:solidFill>
              </a:rPr>
              <a:t>Eyebrow</a:t>
            </a:r>
            <a:endParaRPr lang="en-US" sz="1200" dirty="0"/>
          </a:p>
        </p:txBody>
      </p:sp>
      <p:sp>
        <p:nvSpPr>
          <p:cNvPr id="3" name="Text 0"/>
          <p:cNvSpPr/>
          <p:nvPr>
            <p:ph idx="101" type="title" hasCustomPrompt="1"/>
          </p:nvPr>
        </p:nvSpPr>
        <p:spPr>
          <a:xfrm>
            <a:off x="813816" y="1051560"/>
            <a:ext cx="7863840" cy="109728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r>
              <a:rPr lang="en-US" sz="3600" b="1" dirty="0">
                <a:solidFill>
                  <a:schemeClr val="bg2"/>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IGHT_SIDEBAR">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r>
              <a:rPr lang="en-US" sz="1200" b="1" spc="200" kern="0" dirty="0">
                <a:solidFill>
                  <a:schemeClr val="accent1"/>
                </a:solidFill>
              </a:rPr>
              <a:t>Eyebrow</a:t>
            </a:r>
            <a:endParaRPr lang="en-US" sz="1200" dirty="0"/>
          </a:p>
        </p:txBody>
      </p:sp>
      <p:sp>
        <p:nvSpPr>
          <p:cNvPr id="3" name="Text 0"/>
          <p:cNvSpPr/>
          <p:nvPr>
            <p:ph idx="101" type="title" hasCustomPrompt="1"/>
          </p:nvPr>
        </p:nvSpPr>
        <p:spPr>
          <a:xfrm>
            <a:off x="813816" y="1051560"/>
            <a:ext cx="3291840" cy="1828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ARK_HALF">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r>
              <a:rPr lang="en-US" sz="1200" b="1" spc="200" kern="0" dirty="0">
                <a:solidFill>
                  <a:schemeClr val="accent4"/>
                </a:solidFill>
              </a:rPr>
              <a:t>Eyebrow</a:t>
            </a:r>
            <a:endParaRPr lang="en-US" sz="1200" dirty="0"/>
          </a:p>
        </p:txBody>
      </p:sp>
      <p:sp>
        <p:nvSpPr>
          <p:cNvPr id="3" name="Text 0"/>
          <p:cNvSpPr/>
          <p:nvPr>
            <p:ph idx="101" type="title" hasCustomPrompt="1"/>
          </p:nvPr>
        </p:nvSpPr>
        <p:spPr>
          <a:xfrm>
            <a:off x="813816" y="1051560"/>
            <a:ext cx="4572000" cy="228600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r>
              <a:rPr lang="en-US" sz="3600" b="1" dirty="0">
                <a:solidFill>
                  <a:schemeClr val="bg2"/>
                </a:solidFill>
              </a:rPr>
              <a:t>Slide title</a:t>
            </a: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rtlCol="0"/>
          <a:lstStyle>
            <a:lvl1pPr indent="0" marL="0">
              <a:buNone/>
              <a:defRPr lang="en-US" sz="1200" b="1" spc="200" kern="0" dirty="0">
                <a:solidFill>
                  <a:schemeClr val="tx1"/>
                </a:solidFill>
              </a:defRPr>
            </a:lvl1pPr>
          </a:lstStyle>
          <a:p>
            <a:pPr indent="0" marL="0">
              <a:buNone/>
            </a:pPr>
            <a:r>
              <a:rPr lang="en-US" sz="1200" b="1" spc="200" kern="0" dirty="0">
                <a:solidFill>
                  <a:schemeClr val="tx1"/>
                </a:solidFill>
              </a:rPr>
              <a:t>Eyebrow</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8.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TushKum/cdsl" TargetMode="Externa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3816" y="1234440"/>
            <a:ext cx="6949440" cy="320040"/>
          </a:xfrm>
          <a:prstGeom prst="rect">
            <a:avLst/>
          </a:prstGeom>
          <a:noFill/>
          <a:ln/>
        </p:spPr>
        <p:txBody>
          <a:bodyPr wrap="square" lIns="0" tIns="0" rIns="0" bIns="0" rtlCol="0" anchor="t"/>
          <a:lstStyle/>
          <a:p>
            <a:pPr indent="0" marL="0">
              <a:buNone/>
            </a:pPr>
            <a:r>
              <a:rPr lang="en-US" sz="1200" b="1" spc="200" kern="0" dirty="0">
                <a:solidFill>
                  <a:schemeClr val="accent4"/>
                </a:solidFill>
              </a:rPr>
              <a:t>CDSL REIMAGINE IDEATHON 2026</a:t>
            </a:r>
            <a:endParaRPr lang="en-US" sz="1200" dirty="0"/>
          </a:p>
        </p:txBody>
      </p:sp>
      <p:sp>
        <p:nvSpPr>
          <p:cNvPr id="3" name="Text 1"/>
          <p:cNvSpPr txBox="1"/>
          <p:nvPr/>
        </p:nvSpPr>
        <p:spPr>
          <a:xfrm>
            <a:off x="813816" y="1691640"/>
            <a:ext cx="6949440" cy="914400"/>
          </a:xfrm>
          <a:prstGeom prst="rect">
            <a:avLst/>
          </a:prstGeom>
          <a:noFill/>
          <a:ln/>
        </p:spPr>
        <p:txBody>
          <a:bodyPr wrap="square" lIns="0" tIns="0" rIns="0" bIns="0" rtlCol="0" anchor="t"/>
          <a:lstStyle/>
          <a:p>
            <a:pPr indent="0" marL="0">
              <a:buNone/>
            </a:pPr>
            <a:r>
              <a:rPr lang="en-US" sz="6000" b="1" dirty="0">
                <a:solidFill>
                  <a:schemeClr val="bg2"/>
                </a:solidFill>
              </a:rPr>
              <a:t>Pehla Kadam</a:t>
            </a:r>
            <a:endParaRPr lang="en-US" sz="6000" dirty="0"/>
          </a:p>
        </p:txBody>
      </p:sp>
      <p:sp>
        <p:nvSpPr>
          <p:cNvPr id="4" name="Text 2"/>
          <p:cNvSpPr txBox="1"/>
          <p:nvPr/>
        </p:nvSpPr>
        <p:spPr>
          <a:xfrm>
            <a:off x="813816" y="2651760"/>
            <a:ext cx="6949440" cy="640080"/>
          </a:xfrm>
          <a:prstGeom prst="rect">
            <a:avLst/>
          </a:prstGeom>
          <a:noFill/>
          <a:ln/>
        </p:spPr>
        <p:txBody>
          <a:bodyPr wrap="square" lIns="0" tIns="0" rIns="0" bIns="0" rtlCol="0" anchor="t"/>
          <a:lstStyle/>
          <a:p>
            <a:pPr indent="0" marL="0">
              <a:buNone/>
            </a:pPr>
            <a:r>
              <a:rPr lang="en-US" sz="3600" b="1" dirty="0">
                <a:solidFill>
                  <a:schemeClr val="accent2"/>
                </a:solidFill>
              </a:rPr>
              <a:t>पहला कदम</a:t>
            </a:r>
            <a:endParaRPr lang="en-US" sz="3600" dirty="0"/>
          </a:p>
        </p:txBody>
      </p:sp>
      <p:sp>
        <p:nvSpPr>
          <p:cNvPr id="5" name="Text 3"/>
          <p:cNvSpPr txBox="1"/>
          <p:nvPr/>
        </p:nvSpPr>
        <p:spPr>
          <a:xfrm>
            <a:off x="813816" y="3520440"/>
            <a:ext cx="6766560" cy="1280160"/>
          </a:xfrm>
          <a:prstGeom prst="rect">
            <a:avLst/>
          </a:prstGeom>
          <a:noFill/>
          <a:ln/>
        </p:spPr>
        <p:txBody>
          <a:bodyPr wrap="square" lIns="0" tIns="0" rIns="0" bIns="0" rtlCol="0" anchor="t"/>
          <a:lstStyle/>
          <a:p>
            <a:pPr indent="0" marL="0">
              <a:lnSpc>
                <a:spcPct val="115000"/>
              </a:lnSpc>
              <a:buNone/>
            </a:pPr>
            <a:r>
              <a:rPr lang="en-US" sz="2200" dirty="0">
                <a:solidFill>
                  <a:schemeClr val="accent6"/>
                </a:solidFill>
              </a:rPr>
              <a:t>Learn investing where your shares actually live: a practice demat account that teaches the depository, in Hindi and English.</a:t>
            </a:r>
            <a:endParaRPr lang="en-US" sz="2200" dirty="0"/>
          </a:p>
        </p:txBody>
      </p:sp>
      <p:sp>
        <p:nvSpPr>
          <p:cNvPr id="6" name="Text 4"/>
          <p:cNvSpPr txBox="1"/>
          <p:nvPr/>
        </p:nvSpPr>
        <p:spPr>
          <a:xfrm>
            <a:off x="813816" y="6035040"/>
            <a:ext cx="7772400" cy="320040"/>
          </a:xfrm>
          <a:prstGeom prst="rect">
            <a:avLst/>
          </a:prstGeom>
          <a:noFill/>
          <a:ln/>
        </p:spPr>
        <p:txBody>
          <a:bodyPr wrap="square" lIns="0" tIns="0" rIns="0" bIns="0" rtlCol="0" anchor="t"/>
          <a:lstStyle/>
          <a:p>
            <a:pPr indent="0" marL="0">
              <a:buNone/>
            </a:pPr>
            <a:r>
              <a:rPr lang="en-US" sz="1200" dirty="0">
                <a:solidFill>
                  <a:schemeClr val="accent6"/>
                </a:solidFill>
              </a:rPr>
              <a:t>[Team name] · [Member names] · Working prototype, all money and prices simulated</a:t>
            </a:r>
            <a:endParaRPr lang="en-US" sz="1200" dirty="0"/>
          </a:p>
        </p:txBody>
      </p:sp>
      <p:sp>
        <p:nvSpPr>
          <p:cNvPr id="7" name="Cover phone frame"/>
          <p:cNvSpPr/>
          <p:nvPr/>
        </p:nvSpPr>
        <p:spPr>
          <a:xfrm>
            <a:off x="8668512" y="804672"/>
            <a:ext cx="2642616" cy="5157216"/>
          </a:xfrm>
          <a:prstGeom prst="roundRect">
            <a:avLst>
              <a:gd name="adj" fmla="val 9689"/>
            </a:avLst>
          </a:prstGeom>
          <a:solidFill>
            <a:srgbClr val="061615"/>
          </a:solidFill>
          <a:ln/>
        </p:spPr>
      </p:sp>
      <p:pic>
        <p:nvPicPr>
          <p:cNvPr id="8" name="Cover phone" descr="Pehla Kadam on a phone, showing three CDSL alerts confirming shares credited to the learner’s demat account">    </p:cNvPr>
          <p:cNvPicPr>
            <a:picLocks noChangeAspect="1"/>
          </p:cNvPicPr>
          <p:nvPr/>
        </p:nvPicPr>
        <p:blipFill>
          <a:blip r:embed="rId1"/>
          <a:srcRect l="0" r="0" t="0" b="0"/>
          <a:stretch/>
        </p:blipFill>
        <p:spPr>
          <a:xfrm>
            <a:off x="8732520" y="868680"/>
            <a:ext cx="2514600" cy="5029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THE GAP</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tx1"/>
                </a:solidFill>
              </a:rPr>
              <a:t>Broker apps stop at the Buy button</a:t>
            </a:r>
            <a:endParaRPr lang="en-US" sz="3600" dirty="0"/>
          </a:p>
        </p:txBody>
      </p:sp>
      <p:sp>
        <p:nvSpPr>
          <p:cNvPr id="4" name="What investors see card"/>
          <p:cNvSpPr/>
          <p:nvPr/>
        </p:nvSpPr>
        <p:spPr>
          <a:xfrm>
            <a:off x="813816" y="2148840"/>
            <a:ext cx="5154016" cy="2743200"/>
          </a:xfrm>
          <a:prstGeom prst="roundRect">
            <a:avLst>
              <a:gd name="adj" fmla="val 5333"/>
            </a:avLst>
          </a:prstGeom>
          <a:solidFill>
            <a:schemeClr val="bg1"/>
          </a:solidFill>
          <a:ln w="15875">
            <a:solidFill>
              <a:srgbClr val="C9D6D3"/>
            </a:solidFill>
            <a:prstDash val="dash"/>
          </a:ln>
        </p:spPr>
      </p:sp>
      <p:sp>
        <p:nvSpPr>
          <p:cNvPr id="5" name="What nobody explains card"/>
          <p:cNvSpPr/>
          <p:nvPr/>
        </p:nvSpPr>
        <p:spPr>
          <a:xfrm>
            <a:off x="6223864" y="2148840"/>
            <a:ext cx="5154016" cy="2743200"/>
          </a:xfrm>
          <a:prstGeom prst="roundRect">
            <a:avLst>
              <a:gd name="adj" fmla="val 5333"/>
            </a:avLst>
          </a:prstGeom>
          <a:solidFill>
            <a:schemeClr val="accent5"/>
          </a:solidFill>
          <a:ln/>
        </p:spPr>
      </p:sp>
      <p:sp>
        <p:nvSpPr>
          <p:cNvPr id="6" name="Text 4"/>
          <p:cNvSpPr txBox="1"/>
          <p:nvPr/>
        </p:nvSpPr>
        <p:spPr>
          <a:xfrm>
            <a:off x="1133856" y="2441448"/>
            <a:ext cx="4513936" cy="457200"/>
          </a:xfrm>
          <a:prstGeom prst="rect">
            <a:avLst/>
          </a:prstGeom>
          <a:noFill/>
          <a:ln/>
        </p:spPr>
        <p:txBody>
          <a:bodyPr wrap="square" lIns="0" tIns="0" rIns="0" bIns="0" rtlCol="0" anchor="t"/>
          <a:lstStyle/>
          <a:p>
            <a:pPr indent="0" marL="0">
              <a:buNone/>
            </a:pPr>
            <a:r>
              <a:rPr lang="en-US" sz="2200" b="1" dirty="0">
                <a:solidFill>
                  <a:schemeClr val="tx2"/>
                </a:solidFill>
              </a:rPr>
              <a:t>What a new investor sees</a:t>
            </a:r>
            <a:endParaRPr lang="en-US" sz="2200" dirty="0"/>
          </a:p>
        </p:txBody>
      </p:sp>
      <p:sp>
        <p:nvSpPr>
          <p:cNvPr id="7" name="Text 5"/>
          <p:cNvSpPr txBox="1"/>
          <p:nvPr/>
        </p:nvSpPr>
        <p:spPr>
          <a:xfrm>
            <a:off x="1133856" y="3017520"/>
            <a:ext cx="4513936"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A price and a Buy button</a:t>
            </a:r>
            <a:endParaRPr lang="en-US" sz="1600" dirty="0"/>
          </a:p>
          <a:p>
            <a:pPr marL="342900" indent="-342900">
              <a:spcAft>
                <a:spcPts val="800"/>
              </a:spcAft>
              <a:buSzPct val="100000"/>
              <a:buChar char="•"/>
            </a:pPr>
            <a:r>
              <a:rPr lang="en-US" sz="1600" dirty="0">
                <a:solidFill>
                  <a:schemeClr val="tx2"/>
                </a:solidFill>
              </a:rPr>
              <a:t>A chart that goes up and down</a:t>
            </a:r>
            <a:endParaRPr lang="en-US" sz="1600" dirty="0"/>
          </a:p>
          <a:p>
            <a:pPr marL="342900" indent="-342900">
              <a:spcAft>
                <a:spcPts val="800"/>
              </a:spcAft>
              <a:buSzPct val="100000"/>
              <a:buChar char="•"/>
            </a:pPr>
            <a:r>
              <a:rPr lang="en-US" sz="1600" dirty="0">
                <a:solidFill>
                  <a:schemeClr val="tx2"/>
                </a:solidFill>
              </a:rPr>
              <a:t>Profit and loss in green and red</a:t>
            </a:r>
            <a:endParaRPr lang="en-US" sz="1600" dirty="0"/>
          </a:p>
          <a:p>
            <a:pPr marL="342900" indent="-342900">
              <a:spcAft>
                <a:spcPts val="800"/>
              </a:spcAft>
              <a:buSzPct val="100000"/>
              <a:buChar char="•"/>
            </a:pPr>
            <a:r>
              <a:rPr lang="en-US" sz="1600" dirty="0">
                <a:solidFill>
                  <a:schemeClr val="tx2"/>
                </a:solidFill>
              </a:rPr>
              <a:t>Tips and “trending stocks”</a:t>
            </a:r>
            <a:endParaRPr lang="en-US" sz="1600" dirty="0"/>
          </a:p>
        </p:txBody>
      </p:sp>
      <p:sp>
        <p:nvSpPr>
          <p:cNvPr id="8" name="Text 6"/>
          <p:cNvSpPr txBox="1"/>
          <p:nvPr/>
        </p:nvSpPr>
        <p:spPr>
          <a:xfrm>
            <a:off x="6543904" y="2441448"/>
            <a:ext cx="4513936" cy="457200"/>
          </a:xfrm>
          <a:prstGeom prst="rect">
            <a:avLst/>
          </a:prstGeom>
          <a:noFill/>
          <a:ln/>
        </p:spPr>
        <p:txBody>
          <a:bodyPr wrap="square" lIns="0" tIns="0" rIns="0" bIns="0" rtlCol="0" anchor="t"/>
          <a:lstStyle/>
          <a:p>
            <a:pPr indent="0" marL="0">
              <a:buNone/>
            </a:pPr>
            <a:r>
              <a:rPr lang="en-US" sz="2200" b="1" dirty="0">
                <a:solidFill>
                  <a:schemeClr val="accent1"/>
                </a:solidFill>
              </a:rPr>
              <a:t>What nobody explains</a:t>
            </a:r>
            <a:endParaRPr lang="en-US" sz="2200" dirty="0"/>
          </a:p>
        </p:txBody>
      </p:sp>
      <p:sp>
        <p:nvSpPr>
          <p:cNvPr id="9" name="Text 7"/>
          <p:cNvSpPr txBox="1"/>
          <p:nvPr/>
        </p:nvSpPr>
        <p:spPr>
          <a:xfrm>
            <a:off x="6543904" y="3017520"/>
            <a:ext cx="4513936"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Where shares live: a demat account at CDSL</a:t>
            </a:r>
            <a:endParaRPr lang="en-US" sz="1600" dirty="0"/>
          </a:p>
          <a:p>
            <a:pPr marL="342900" indent="-342900">
              <a:spcAft>
                <a:spcPts val="800"/>
              </a:spcAft>
              <a:buSzPct val="100000"/>
              <a:buChar char="•"/>
            </a:pPr>
            <a:r>
              <a:rPr lang="en-US" sz="1600" dirty="0">
                <a:solidFill>
                  <a:schemeClr val="tx1"/>
                </a:solidFill>
              </a:rPr>
              <a:t>Why they arrive the next day (T+1)</a:t>
            </a:r>
            <a:endParaRPr lang="en-US" sz="1600" dirty="0"/>
          </a:p>
          <a:p>
            <a:pPr marL="342900" indent="-342900">
              <a:spcAft>
                <a:spcPts val="800"/>
              </a:spcAft>
              <a:buSzPct val="100000"/>
              <a:buChar char="•"/>
            </a:pPr>
            <a:r>
              <a:rPr lang="en-US" sz="1600" dirty="0">
                <a:solidFill>
                  <a:schemeClr val="tx1"/>
                </a:solidFill>
              </a:rPr>
              <a:t>Who protects them: TPIN, alerts, CAS</a:t>
            </a:r>
            <a:endParaRPr lang="en-US" sz="1600" dirty="0"/>
          </a:p>
          <a:p>
            <a:pPr marL="342900" indent="-342900">
              <a:spcAft>
                <a:spcPts val="800"/>
              </a:spcAft>
              <a:buSzPct val="100000"/>
              <a:buChar char="•"/>
            </a:pPr>
            <a:r>
              <a:rPr lang="en-US" sz="1600" dirty="0">
                <a:solidFill>
                  <a:schemeClr val="tx1"/>
                </a:solidFill>
              </a:rPr>
              <a:t>Nominees, dividends, bonus, pledges</a:t>
            </a:r>
            <a:endParaRPr lang="en-US" sz="1600" dirty="0"/>
          </a:p>
        </p:txBody>
      </p:sp>
      <p:sp>
        <p:nvSpPr>
          <p:cNvPr id="10" name="Text 8"/>
          <p:cNvSpPr txBox="1"/>
          <p:nvPr/>
        </p:nvSpPr>
        <p:spPr>
          <a:xfrm>
            <a:off x="813816" y="5212080"/>
            <a:ext cx="10564063" cy="731520"/>
          </a:xfrm>
          <a:prstGeom prst="rect">
            <a:avLst/>
          </a:prstGeom>
          <a:noFill/>
          <a:ln/>
        </p:spPr>
        <p:txBody>
          <a:bodyPr wrap="square" lIns="0" tIns="0" rIns="0" bIns="0" rtlCol="0" anchor="t"/>
          <a:lstStyle/>
          <a:p>
            <a:pPr indent="0" marL="0">
              <a:buNone/>
            </a:pPr>
            <a:r>
              <a:rPr lang="en-US" sz="1600" dirty="0">
                <a:solidFill>
                  <a:schemeClr val="tx2"/>
                </a:solidFill>
              </a:rPr>
              <a:t>That missing layer is the depository. It is where trust is built, and where scams like “share your OTP” do their damage.</a:t>
            </a:r>
            <a:endParaRPr lang="en-US" sz="1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4"/>
                </a:solidFill>
              </a:rPr>
              <a:t>WHO IT’S FOR</a:t>
            </a:r>
            <a:endParaRPr lang="en-US" sz="1200" dirty="0"/>
          </a:p>
        </p:txBody>
      </p:sp>
      <p:sp>
        <p:nvSpPr>
          <p:cNvPr id="3" name="Text 0"/>
          <p:cNvSpPr/>
          <p:nvPr>
            <p:ph idx="101" type="title" hasCustomPrompt="1"/>
          </p:nvPr>
        </p:nvSpPr>
        <p:spPr>
          <a:xfrm>
            <a:off x="813816" y="1051560"/>
            <a:ext cx="7863840" cy="1097280"/>
          </a:xfrm>
          <a:prstGeom prst="rect">
            <a:avLst/>
          </a:prstGeom>
          <a:noFill/>
          <a:ln/>
        </p:spPr>
        <p:txBody>
          <a:bodyPr wrap="square" lIns="0" tIns="0" rIns="0" bIns="0" rtlCol="0" anchor="t"/>
          <a:lstStyle/>
          <a:p>
            <a:pPr algn="l" indent="0" marL="0">
              <a:buNone/>
            </a:pPr>
            <a:r>
              <a:rPr lang="en-US" sz="3600" b="1" dirty="0">
                <a:solidFill>
                  <a:schemeClr val="bg2"/>
                </a:solidFill>
              </a:rPr>
              <a:t>First-time investors in tier-2 and tier-3 towns, especially women</a:t>
            </a:r>
            <a:endParaRPr lang="en-US" sz="3600" dirty="0"/>
          </a:p>
        </p:txBody>
      </p:sp>
      <p:sp>
        <p:nvSpPr>
          <p:cNvPr id="4" name="हिंदी + English card"/>
          <p:cNvSpPr/>
          <p:nvPr/>
        </p:nvSpPr>
        <p:spPr>
          <a:xfrm>
            <a:off x="813816" y="2606040"/>
            <a:ext cx="2468880" cy="1691640"/>
          </a:xfrm>
          <a:prstGeom prst="roundRect">
            <a:avLst>
              <a:gd name="adj" fmla="val 8649"/>
            </a:avLst>
          </a:prstGeom>
          <a:solidFill>
            <a:srgbClr val="133B37"/>
          </a:solidFill>
          <a:ln/>
        </p:spPr>
      </p:sp>
      <p:sp>
        <p:nvSpPr>
          <p:cNvPr id="5" name="Text 3"/>
          <p:cNvSpPr txBox="1"/>
          <p:nvPr/>
        </p:nvSpPr>
        <p:spPr>
          <a:xfrm>
            <a:off x="1042416" y="2834640"/>
            <a:ext cx="2011680" cy="411480"/>
          </a:xfrm>
          <a:prstGeom prst="rect">
            <a:avLst/>
          </a:prstGeom>
          <a:noFill/>
          <a:ln/>
        </p:spPr>
        <p:txBody>
          <a:bodyPr wrap="square" lIns="0" tIns="0" rIns="0" bIns="0" rtlCol="0" anchor="t"/>
          <a:lstStyle/>
          <a:p>
            <a:pPr indent="0" marL="0">
              <a:buNone/>
            </a:pPr>
            <a:r>
              <a:rPr lang="en-US" sz="1600" b="1" dirty="0">
                <a:solidFill>
                  <a:schemeClr val="accent2"/>
                </a:solidFill>
              </a:rPr>
              <a:t>हिंदी + English</a:t>
            </a:r>
            <a:endParaRPr lang="en-US" sz="1600" dirty="0"/>
          </a:p>
        </p:txBody>
      </p:sp>
      <p:sp>
        <p:nvSpPr>
          <p:cNvPr id="6" name="Text 4"/>
          <p:cNvSpPr txBox="1"/>
          <p:nvPr/>
        </p:nvSpPr>
        <p:spPr>
          <a:xfrm>
            <a:off x="1042416" y="3291840"/>
            <a:ext cx="2011680" cy="914400"/>
          </a:xfrm>
          <a:prstGeom prst="rect">
            <a:avLst/>
          </a:prstGeom>
          <a:noFill/>
          <a:ln/>
        </p:spPr>
        <p:txBody>
          <a:bodyPr wrap="square" lIns="0" tIns="0" rIns="0" bIns="0" rtlCol="0" anchor="t"/>
          <a:lstStyle/>
          <a:p>
            <a:pPr indent="0" marL="0">
              <a:buNone/>
            </a:pPr>
            <a:r>
              <a:rPr lang="en-US" sz="1200" dirty="0">
                <a:solidFill>
                  <a:schemeClr val="accent6"/>
                </a:solidFill>
              </a:rPr>
              <a:t>One tap switches every button, lesson, alert and scam message.</a:t>
            </a:r>
            <a:endParaRPr lang="en-US" sz="1200" dirty="0"/>
          </a:p>
        </p:txBody>
      </p:sp>
      <p:sp>
        <p:nvSpPr>
          <p:cNvPr id="7" name="₹0 at risk card"/>
          <p:cNvSpPr/>
          <p:nvPr/>
        </p:nvSpPr>
        <p:spPr>
          <a:xfrm>
            <a:off x="3511296" y="2606040"/>
            <a:ext cx="2468880" cy="1691640"/>
          </a:xfrm>
          <a:prstGeom prst="roundRect">
            <a:avLst>
              <a:gd name="adj" fmla="val 8649"/>
            </a:avLst>
          </a:prstGeom>
          <a:solidFill>
            <a:srgbClr val="133B37"/>
          </a:solidFill>
          <a:ln/>
        </p:spPr>
      </p:sp>
      <p:sp>
        <p:nvSpPr>
          <p:cNvPr id="8" name="Text 6"/>
          <p:cNvSpPr txBox="1"/>
          <p:nvPr/>
        </p:nvSpPr>
        <p:spPr>
          <a:xfrm>
            <a:off x="3739896" y="2834640"/>
            <a:ext cx="2011680" cy="411480"/>
          </a:xfrm>
          <a:prstGeom prst="rect">
            <a:avLst/>
          </a:prstGeom>
          <a:noFill/>
          <a:ln/>
        </p:spPr>
        <p:txBody>
          <a:bodyPr wrap="square" lIns="0" tIns="0" rIns="0" bIns="0" rtlCol="0" anchor="t"/>
          <a:lstStyle/>
          <a:p>
            <a:pPr indent="0" marL="0">
              <a:buNone/>
            </a:pPr>
            <a:r>
              <a:rPr lang="en-US" sz="1600" b="1" dirty="0">
                <a:solidFill>
                  <a:schemeClr val="accent2"/>
                </a:solidFill>
              </a:rPr>
              <a:t>₹0 at risk</a:t>
            </a:r>
            <a:endParaRPr lang="en-US" sz="1600" dirty="0"/>
          </a:p>
        </p:txBody>
      </p:sp>
      <p:sp>
        <p:nvSpPr>
          <p:cNvPr id="9" name="Text 7"/>
          <p:cNvSpPr txBox="1"/>
          <p:nvPr/>
        </p:nvSpPr>
        <p:spPr>
          <a:xfrm>
            <a:off x="3739896" y="3291840"/>
            <a:ext cx="2011680" cy="914400"/>
          </a:xfrm>
          <a:prstGeom prst="rect">
            <a:avLst/>
          </a:prstGeom>
          <a:noFill/>
          <a:ln/>
        </p:spPr>
        <p:txBody>
          <a:bodyPr wrap="square" lIns="0" tIns="0" rIns="0" bIns="0" rtlCol="0" anchor="t"/>
          <a:lstStyle/>
          <a:p>
            <a:pPr indent="0" marL="0">
              <a:buNone/>
            </a:pPr>
            <a:r>
              <a:rPr lang="en-US" sz="1200" dirty="0">
                <a:solidFill>
                  <a:schemeClr val="accent6"/>
                </a:solidFill>
              </a:rPr>
              <a:t>Practice money, demo KYC, simulated prices. Mistakes become lessons.</a:t>
            </a:r>
            <a:endParaRPr lang="en-US" sz="1200" dirty="0"/>
          </a:p>
        </p:txBody>
      </p:sp>
      <p:sp>
        <p:nvSpPr>
          <p:cNvPr id="10" name="Any phone card"/>
          <p:cNvSpPr/>
          <p:nvPr/>
        </p:nvSpPr>
        <p:spPr>
          <a:xfrm>
            <a:off x="6208776" y="2606040"/>
            <a:ext cx="2468880" cy="1691640"/>
          </a:xfrm>
          <a:prstGeom prst="roundRect">
            <a:avLst>
              <a:gd name="adj" fmla="val 8649"/>
            </a:avLst>
          </a:prstGeom>
          <a:solidFill>
            <a:srgbClr val="133B37"/>
          </a:solidFill>
          <a:ln/>
        </p:spPr>
      </p:sp>
      <p:sp>
        <p:nvSpPr>
          <p:cNvPr id="11" name="Text 9"/>
          <p:cNvSpPr txBox="1"/>
          <p:nvPr/>
        </p:nvSpPr>
        <p:spPr>
          <a:xfrm>
            <a:off x="6437376" y="2834640"/>
            <a:ext cx="2011680" cy="411480"/>
          </a:xfrm>
          <a:prstGeom prst="rect">
            <a:avLst/>
          </a:prstGeom>
          <a:noFill/>
          <a:ln/>
        </p:spPr>
        <p:txBody>
          <a:bodyPr wrap="square" lIns="0" tIns="0" rIns="0" bIns="0" rtlCol="0" anchor="t"/>
          <a:lstStyle/>
          <a:p>
            <a:pPr indent="0" marL="0">
              <a:buNone/>
            </a:pPr>
            <a:r>
              <a:rPr lang="en-US" sz="1600" b="1" dirty="0">
                <a:solidFill>
                  <a:schemeClr val="accent2"/>
                </a:solidFill>
              </a:rPr>
              <a:t>Any phone</a:t>
            </a:r>
            <a:endParaRPr lang="en-US" sz="1600" dirty="0"/>
          </a:p>
        </p:txBody>
      </p:sp>
      <p:sp>
        <p:nvSpPr>
          <p:cNvPr id="12" name="Text 10"/>
          <p:cNvSpPr txBox="1"/>
          <p:nvPr/>
        </p:nvSpPr>
        <p:spPr>
          <a:xfrm>
            <a:off x="6437376" y="3291840"/>
            <a:ext cx="2011680" cy="914400"/>
          </a:xfrm>
          <a:prstGeom prst="rect">
            <a:avLst/>
          </a:prstGeom>
          <a:noFill/>
          <a:ln/>
        </p:spPr>
        <p:txBody>
          <a:bodyPr wrap="square" lIns="0" tIns="0" rIns="0" bIns="0" rtlCol="0" anchor="t"/>
          <a:lstStyle/>
          <a:p>
            <a:pPr indent="0" marL="0">
              <a:buNone/>
            </a:pPr>
            <a:r>
              <a:rPr lang="en-US" sz="1200" dirty="0">
                <a:solidFill>
                  <a:schemeClr val="accent6"/>
                </a:solidFill>
              </a:rPr>
              <a:t>No sign-up. Opens on a basic phone and works offline.</a:t>
            </a:r>
            <a:endParaRPr lang="en-US" sz="1200" dirty="0"/>
          </a:p>
        </p:txBody>
      </p:sp>
      <p:sp>
        <p:nvSpPr>
          <p:cNvPr id="13" name="Text 11"/>
          <p:cNvSpPr txBox="1"/>
          <p:nvPr/>
        </p:nvSpPr>
        <p:spPr>
          <a:xfrm>
            <a:off x="813816" y="4617720"/>
            <a:ext cx="7863840" cy="1097280"/>
          </a:xfrm>
          <a:prstGeom prst="rect">
            <a:avLst/>
          </a:prstGeom>
          <a:noFill/>
          <a:ln/>
        </p:spPr>
        <p:txBody>
          <a:bodyPr wrap="square" lIns="0" tIns="0" rIns="0" bIns="0" rtlCol="0" anchor="t"/>
          <a:lstStyle/>
          <a:p>
            <a:pPr indent="0" marL="0">
              <a:buNone/>
            </a:pPr>
            <a:r>
              <a:rPr lang="en-US" sz="1600" i="1" dirty="0">
                <a:solidFill>
                  <a:schemeClr val="bg2"/>
                </a:solidFill>
              </a:rPr>
              <a:t>“Many women never find out about shares a husband or father held. A nominee makes sure your savings reach the people you love.” </a:t>
            </a:r>
            <a:pPr indent="0" marL="0">
              <a:buNone/>
            </a:pPr>
            <a:r>
              <a:rPr lang="en-US" sz="1600" dirty="0">
                <a:solidFill>
                  <a:schemeClr val="accent4"/>
                </a:solidFill>
              </a:rPr>
              <a:t>Sakhi, the in-app guide</a:t>
            </a:r>
            <a:endParaRPr lang="en-US" sz="1600" dirty="0"/>
          </a:p>
        </p:txBody>
      </p:sp>
      <p:sp>
        <p:nvSpPr>
          <p:cNvPr id="14" name="Hindi home phone frame"/>
          <p:cNvSpPr/>
          <p:nvPr/>
        </p:nvSpPr>
        <p:spPr>
          <a:xfrm>
            <a:off x="9217152" y="896112"/>
            <a:ext cx="2231136" cy="4334256"/>
          </a:xfrm>
          <a:prstGeom prst="roundRect">
            <a:avLst>
              <a:gd name="adj" fmla="val 11475"/>
            </a:avLst>
          </a:prstGeom>
          <a:solidFill>
            <a:srgbClr val="061615"/>
          </a:solidFill>
          <a:ln/>
        </p:spPr>
      </p:sp>
      <p:pic>
        <p:nvPicPr>
          <p:cNvPr id="15" name="Hindi home phone" descr="The Pehla Kadam home screen in Hindi, with a prompt to add a nominee">    </p:cNvPr>
          <p:cNvPicPr>
            <a:picLocks noChangeAspect="1"/>
          </p:cNvPicPr>
          <p:nvPr/>
        </p:nvPicPr>
        <p:blipFill>
          <a:blip r:embed="rId1"/>
          <a:srcRect l="0" r="0" t="0" b="0"/>
          <a:stretch/>
        </p:blipFill>
        <p:spPr>
          <a:xfrm>
            <a:off x="9281160" y="960120"/>
            <a:ext cx="2103120" cy="4206240"/>
          </a:xfrm>
          <a:prstGeom prst="rect">
            <a:avLst/>
          </a:prstGeom>
        </p:spPr>
      </p:pic>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tx1"/>
                </a:solidFill>
              </a:rPr>
              <a:t>THE IDEA</a:t>
            </a:r>
            <a:endParaRPr lang="en-US" sz="1200" dirty="0"/>
          </a:p>
        </p:txBody>
      </p:sp>
      <p:sp>
        <p:nvSpPr>
          <p:cNvPr id="3" name="Text 1"/>
          <p:cNvSpPr txBox="1"/>
          <p:nvPr/>
        </p:nvSpPr>
        <p:spPr>
          <a:xfrm>
            <a:off x="813816" y="1097280"/>
            <a:ext cx="10564063" cy="2103120"/>
          </a:xfrm>
          <a:prstGeom prst="rect">
            <a:avLst/>
          </a:prstGeom>
          <a:noFill/>
          <a:ln/>
        </p:spPr>
        <p:txBody>
          <a:bodyPr wrap="square" lIns="0" tIns="0" rIns="0" bIns="0" rtlCol="0" anchor="t"/>
          <a:lstStyle/>
          <a:p>
            <a:pPr indent="0" marL="0">
              <a:buNone/>
            </a:pPr>
            <a:r>
              <a:rPr lang="en-US" sz="6000" b="1" dirty="0">
                <a:solidFill>
                  <a:schemeClr val="tx1"/>
                </a:solidFill>
              </a:rPr>
              <a:t>Every tap teaches what the depository does</a:t>
            </a:r>
            <a:endParaRPr lang="en-US" sz="6000" dirty="0"/>
          </a:p>
        </p:txBody>
      </p:sp>
      <p:sp>
        <p:nvSpPr>
          <p:cNvPr id="4" name="₹1,00,000 rule"/>
          <p:cNvSpPr/>
          <p:nvPr/>
        </p:nvSpPr>
        <p:spPr>
          <a:xfrm>
            <a:off x="813816" y="4069080"/>
            <a:ext cx="3338474" cy="0"/>
          </a:xfrm>
          <a:prstGeom prst="line">
            <a:avLst/>
          </a:prstGeom>
          <a:noFill/>
          <a:ln w="25400">
            <a:solidFill>
              <a:schemeClr val="tx1"/>
            </a:solidFill>
            <a:prstDash val="solid"/>
          </a:ln>
        </p:spPr>
      </p:sp>
      <p:sp>
        <p:nvSpPr>
          <p:cNvPr id="5" name="Text 3"/>
          <p:cNvSpPr txBox="1"/>
          <p:nvPr/>
        </p:nvSpPr>
        <p:spPr>
          <a:xfrm>
            <a:off x="813816" y="4251960"/>
            <a:ext cx="3338474" cy="685800"/>
          </a:xfrm>
          <a:prstGeom prst="rect">
            <a:avLst/>
          </a:prstGeom>
          <a:noFill/>
          <a:ln/>
        </p:spPr>
        <p:txBody>
          <a:bodyPr wrap="square" lIns="0" tIns="0" rIns="0" bIns="0" rtlCol="0" anchor="t"/>
          <a:lstStyle/>
          <a:p>
            <a:pPr indent="0" marL="0">
              <a:buNone/>
            </a:pPr>
            <a:r>
              <a:rPr lang="en-US" sz="3600" b="1" dirty="0">
                <a:solidFill>
                  <a:schemeClr val="tx1"/>
                </a:solidFill>
              </a:rPr>
              <a:t>₹1,00,000</a:t>
            </a:r>
            <a:endParaRPr lang="en-US" sz="3600" dirty="0"/>
          </a:p>
        </p:txBody>
      </p:sp>
      <p:sp>
        <p:nvSpPr>
          <p:cNvPr id="6" name="Text 4"/>
          <p:cNvSpPr txBox="1"/>
          <p:nvPr/>
        </p:nvSpPr>
        <p:spPr>
          <a:xfrm>
            <a:off x="813816" y="4983480"/>
            <a:ext cx="3338474" cy="731520"/>
          </a:xfrm>
          <a:prstGeom prst="rect">
            <a:avLst/>
          </a:prstGeom>
          <a:noFill/>
          <a:ln/>
        </p:spPr>
        <p:txBody>
          <a:bodyPr wrap="square" lIns="0" tIns="0" rIns="0" bIns="0" rtlCol="0" anchor="t"/>
          <a:lstStyle/>
          <a:p>
            <a:pPr indent="0" marL="0">
              <a:buNone/>
            </a:pPr>
            <a:r>
              <a:rPr lang="en-US" sz="1600" dirty="0">
                <a:solidFill>
                  <a:schemeClr val="tx1"/>
                </a:solidFill>
              </a:rPr>
              <a:t>practice money, no real rupee at stake</a:t>
            </a:r>
            <a:endParaRPr lang="en-US" sz="1600" dirty="0"/>
          </a:p>
        </p:txBody>
      </p:sp>
      <p:sp>
        <p:nvSpPr>
          <p:cNvPr id="7" name="60 days rule"/>
          <p:cNvSpPr/>
          <p:nvPr/>
        </p:nvSpPr>
        <p:spPr>
          <a:xfrm>
            <a:off x="4426610" y="4069080"/>
            <a:ext cx="3338474" cy="0"/>
          </a:xfrm>
          <a:prstGeom prst="line">
            <a:avLst/>
          </a:prstGeom>
          <a:noFill/>
          <a:ln w="25400">
            <a:solidFill>
              <a:schemeClr val="tx1"/>
            </a:solidFill>
            <a:prstDash val="solid"/>
          </a:ln>
        </p:spPr>
      </p:sp>
      <p:sp>
        <p:nvSpPr>
          <p:cNvPr id="8" name="Text 6"/>
          <p:cNvSpPr txBox="1"/>
          <p:nvPr/>
        </p:nvSpPr>
        <p:spPr>
          <a:xfrm>
            <a:off x="4426610" y="4251960"/>
            <a:ext cx="3338474" cy="685800"/>
          </a:xfrm>
          <a:prstGeom prst="rect">
            <a:avLst/>
          </a:prstGeom>
          <a:noFill/>
          <a:ln/>
        </p:spPr>
        <p:txBody>
          <a:bodyPr wrap="square" lIns="0" tIns="0" rIns="0" bIns="0" rtlCol="0" anchor="t"/>
          <a:lstStyle/>
          <a:p>
            <a:pPr indent="0" marL="0">
              <a:buNone/>
            </a:pPr>
            <a:r>
              <a:rPr lang="en-US" sz="3600" b="1" dirty="0">
                <a:solidFill>
                  <a:schemeClr val="tx1"/>
                </a:solidFill>
              </a:rPr>
              <a:t>60 days</a:t>
            </a:r>
            <a:endParaRPr lang="en-US" sz="3600" dirty="0"/>
          </a:p>
        </p:txBody>
      </p:sp>
      <p:sp>
        <p:nvSpPr>
          <p:cNvPr id="9" name="Text 7"/>
          <p:cNvSpPr txBox="1"/>
          <p:nvPr/>
        </p:nvSpPr>
        <p:spPr>
          <a:xfrm>
            <a:off x="4426610" y="4983480"/>
            <a:ext cx="3338474" cy="731520"/>
          </a:xfrm>
          <a:prstGeom prst="rect">
            <a:avLst/>
          </a:prstGeom>
          <a:noFill/>
          <a:ln/>
        </p:spPr>
        <p:txBody>
          <a:bodyPr wrap="square" lIns="0" tIns="0" rIns="0" bIns="0" rtlCol="0" anchor="t"/>
          <a:lstStyle/>
          <a:p>
            <a:pPr indent="0" marL="0">
              <a:buNone/>
            </a:pPr>
            <a:r>
              <a:rPr lang="en-US" sz="1600" dirty="0">
                <a:solidFill>
                  <a:schemeClr val="tx1"/>
                </a:solidFill>
              </a:rPr>
              <a:t>of simulated market, one tap per day</a:t>
            </a:r>
            <a:endParaRPr lang="en-US" sz="1600" dirty="0"/>
          </a:p>
        </p:txBody>
      </p:sp>
      <p:sp>
        <p:nvSpPr>
          <p:cNvPr id="10" name="8 flows rule"/>
          <p:cNvSpPr/>
          <p:nvPr/>
        </p:nvSpPr>
        <p:spPr>
          <a:xfrm>
            <a:off x="8039405" y="4069080"/>
            <a:ext cx="3338474" cy="0"/>
          </a:xfrm>
          <a:prstGeom prst="line">
            <a:avLst/>
          </a:prstGeom>
          <a:noFill/>
          <a:ln w="25400">
            <a:solidFill>
              <a:schemeClr val="tx1"/>
            </a:solidFill>
            <a:prstDash val="solid"/>
          </a:ln>
        </p:spPr>
      </p:sp>
      <p:sp>
        <p:nvSpPr>
          <p:cNvPr id="11" name="Text 9"/>
          <p:cNvSpPr txBox="1"/>
          <p:nvPr/>
        </p:nvSpPr>
        <p:spPr>
          <a:xfrm>
            <a:off x="8039405" y="4251960"/>
            <a:ext cx="3338474" cy="685800"/>
          </a:xfrm>
          <a:prstGeom prst="rect">
            <a:avLst/>
          </a:prstGeom>
          <a:noFill/>
          <a:ln/>
        </p:spPr>
        <p:txBody>
          <a:bodyPr wrap="square" lIns="0" tIns="0" rIns="0" bIns="0" rtlCol="0" anchor="t"/>
          <a:lstStyle/>
          <a:p>
            <a:pPr indent="0" marL="0">
              <a:buNone/>
            </a:pPr>
            <a:r>
              <a:rPr lang="en-US" sz="3600" b="1" dirty="0">
                <a:solidFill>
                  <a:schemeClr val="tx1"/>
                </a:solidFill>
              </a:rPr>
              <a:t>8 flows</a:t>
            </a:r>
            <a:endParaRPr lang="en-US" sz="3600" dirty="0"/>
          </a:p>
        </p:txBody>
      </p:sp>
      <p:sp>
        <p:nvSpPr>
          <p:cNvPr id="12" name="Text 10"/>
          <p:cNvSpPr txBox="1"/>
          <p:nvPr/>
        </p:nvSpPr>
        <p:spPr>
          <a:xfrm>
            <a:off x="8039405" y="4983480"/>
            <a:ext cx="3338474" cy="731520"/>
          </a:xfrm>
          <a:prstGeom prst="rect">
            <a:avLst/>
          </a:prstGeom>
          <a:noFill/>
          <a:ln/>
        </p:spPr>
        <p:txBody>
          <a:bodyPr wrap="square" lIns="0" tIns="0" rIns="0" bIns="0" rtlCol="0" anchor="t"/>
          <a:lstStyle/>
          <a:p>
            <a:pPr indent="0" marL="0">
              <a:buNone/>
            </a:pPr>
            <a:r>
              <a:rPr lang="en-US" sz="1600" dirty="0">
                <a:solidFill>
                  <a:schemeClr val="tx1"/>
                </a:solidFill>
              </a:rPr>
              <a:t>from KYC to e-voting, each with a lesson</a:t>
            </a:r>
            <a:endParaRPr lang="en-US" sz="1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HOW IT WORKS</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tx1"/>
                </a:solidFill>
              </a:rPr>
              <a:t>Follow 20 ITC shares through one month</a:t>
            </a:r>
            <a:endParaRPr lang="en-US" sz="3600" dirty="0"/>
          </a:p>
        </p:txBody>
      </p:sp>
      <p:sp>
        <p:nvSpPr>
          <p:cNvPr id="4" name="Timeline"/>
          <p:cNvSpPr/>
          <p:nvPr/>
        </p:nvSpPr>
        <p:spPr>
          <a:xfrm>
            <a:off x="813816" y="2423160"/>
            <a:ext cx="10564063" cy="0"/>
          </a:xfrm>
          <a:prstGeom prst="line">
            <a:avLst/>
          </a:prstGeom>
          <a:noFill/>
          <a:ln w="25400">
            <a:solidFill>
              <a:srgbClr val="C9D6D3"/>
            </a:solidFill>
            <a:prstDash val="solid"/>
          </a:ln>
        </p:spPr>
      </p:sp>
      <p:sp>
        <p:nvSpPr>
          <p:cNvPr id="5" name="Buy dot"/>
          <p:cNvSpPr/>
          <p:nvPr/>
        </p:nvSpPr>
        <p:spPr>
          <a:xfrm>
            <a:off x="813816" y="2331720"/>
            <a:ext cx="201168" cy="201168"/>
          </a:xfrm>
          <a:prstGeom prst="ellipse">
            <a:avLst/>
          </a:prstGeom>
          <a:solidFill>
            <a:schemeClr val="accent1"/>
          </a:solidFill>
          <a:ln/>
        </p:spPr>
      </p:sp>
      <p:sp>
        <p:nvSpPr>
          <p:cNvPr id="6" name="Text 4"/>
          <p:cNvSpPr txBox="1"/>
          <p:nvPr/>
        </p:nvSpPr>
        <p:spPr>
          <a:xfrm>
            <a:off x="813816" y="2715768"/>
            <a:ext cx="1608277" cy="320040"/>
          </a:xfrm>
          <a:prstGeom prst="rect">
            <a:avLst/>
          </a:prstGeom>
          <a:noFill/>
          <a:ln/>
        </p:spPr>
        <p:txBody>
          <a:bodyPr wrap="square" lIns="0" tIns="0" rIns="0" bIns="0" rtlCol="0" anchor="t"/>
          <a:lstStyle/>
          <a:p>
            <a:pPr indent="0" marL="0">
              <a:buNone/>
            </a:pPr>
            <a:r>
              <a:rPr lang="en-US" sz="1200" b="1" dirty="0">
                <a:solidFill>
                  <a:schemeClr val="accent1"/>
                </a:solidFill>
              </a:rPr>
              <a:t>T · Mon 1 Jun</a:t>
            </a:r>
            <a:endParaRPr lang="en-US" sz="1200" dirty="0"/>
          </a:p>
        </p:txBody>
      </p:sp>
      <p:sp>
        <p:nvSpPr>
          <p:cNvPr id="7" name="Text 5"/>
          <p:cNvSpPr txBox="1"/>
          <p:nvPr/>
        </p:nvSpPr>
        <p:spPr>
          <a:xfrm>
            <a:off x="813816"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Buy</a:t>
            </a:r>
            <a:endParaRPr lang="en-US" sz="1800" dirty="0"/>
          </a:p>
        </p:txBody>
      </p:sp>
      <p:sp>
        <p:nvSpPr>
          <p:cNvPr id="8" name="Text 6"/>
          <p:cNvSpPr txBox="1"/>
          <p:nvPr/>
        </p:nvSpPr>
        <p:spPr>
          <a:xfrm>
            <a:off x="813816"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Cash leaves today. Shares show as “pending”.</a:t>
            </a:r>
            <a:endParaRPr lang="en-US" sz="1200" dirty="0"/>
          </a:p>
        </p:txBody>
      </p:sp>
      <p:sp>
        <p:nvSpPr>
          <p:cNvPr id="9" name="Credited dot"/>
          <p:cNvSpPr/>
          <p:nvPr/>
        </p:nvSpPr>
        <p:spPr>
          <a:xfrm>
            <a:off x="2604973" y="2331720"/>
            <a:ext cx="201168" cy="201168"/>
          </a:xfrm>
          <a:prstGeom prst="ellipse">
            <a:avLst/>
          </a:prstGeom>
          <a:solidFill>
            <a:schemeClr val="accent1"/>
          </a:solidFill>
          <a:ln/>
        </p:spPr>
      </p:sp>
      <p:sp>
        <p:nvSpPr>
          <p:cNvPr id="10" name="Text 8"/>
          <p:cNvSpPr txBox="1"/>
          <p:nvPr/>
        </p:nvSpPr>
        <p:spPr>
          <a:xfrm>
            <a:off x="2604973" y="2715768"/>
            <a:ext cx="1608277" cy="320040"/>
          </a:xfrm>
          <a:prstGeom prst="rect">
            <a:avLst/>
          </a:prstGeom>
          <a:noFill/>
          <a:ln/>
        </p:spPr>
        <p:txBody>
          <a:bodyPr wrap="square" lIns="0" tIns="0" rIns="0" bIns="0" rtlCol="0" anchor="t"/>
          <a:lstStyle/>
          <a:p>
            <a:pPr indent="0" marL="0">
              <a:buNone/>
            </a:pPr>
            <a:r>
              <a:rPr lang="en-US" sz="1200" b="1" dirty="0">
                <a:solidFill>
                  <a:schemeClr val="accent1"/>
                </a:solidFill>
              </a:rPr>
              <a:t>T+1 · Tue 2 Jun</a:t>
            </a:r>
            <a:endParaRPr lang="en-US" sz="1200" dirty="0"/>
          </a:p>
        </p:txBody>
      </p:sp>
      <p:sp>
        <p:nvSpPr>
          <p:cNvPr id="11" name="Text 9"/>
          <p:cNvSpPr txBox="1"/>
          <p:nvPr/>
        </p:nvSpPr>
        <p:spPr>
          <a:xfrm>
            <a:off x="2604973"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Credited</a:t>
            </a:r>
            <a:endParaRPr lang="en-US" sz="1800" dirty="0"/>
          </a:p>
        </p:txBody>
      </p:sp>
      <p:sp>
        <p:nvSpPr>
          <p:cNvPr id="12" name="Text 10"/>
          <p:cNvSpPr txBox="1"/>
          <p:nvPr/>
        </p:nvSpPr>
        <p:spPr>
          <a:xfrm>
            <a:off x="2604973"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Shares land in the demat account, with a CDSL alert.</a:t>
            </a:r>
            <a:endParaRPr lang="en-US" sz="1200" dirty="0"/>
          </a:p>
        </p:txBody>
      </p:sp>
      <p:sp>
        <p:nvSpPr>
          <p:cNvPr id="13" name="Dividend dot"/>
          <p:cNvSpPr/>
          <p:nvPr/>
        </p:nvSpPr>
        <p:spPr>
          <a:xfrm>
            <a:off x="4396130" y="2331720"/>
            <a:ext cx="201168" cy="201168"/>
          </a:xfrm>
          <a:prstGeom prst="ellipse">
            <a:avLst/>
          </a:prstGeom>
          <a:solidFill>
            <a:schemeClr val="accent1"/>
          </a:solidFill>
          <a:ln/>
        </p:spPr>
      </p:sp>
      <p:sp>
        <p:nvSpPr>
          <p:cNvPr id="14" name="Text 12"/>
          <p:cNvSpPr txBox="1"/>
          <p:nvPr/>
        </p:nvSpPr>
        <p:spPr>
          <a:xfrm>
            <a:off x="4396130" y="2715768"/>
            <a:ext cx="1608277" cy="320040"/>
          </a:xfrm>
          <a:prstGeom prst="rect">
            <a:avLst/>
          </a:prstGeom>
          <a:noFill/>
          <a:ln/>
        </p:spPr>
        <p:txBody>
          <a:bodyPr wrap="square" lIns="0" tIns="0" rIns="0" bIns="0" rtlCol="0" anchor="t"/>
          <a:lstStyle/>
          <a:p>
            <a:pPr indent="0" marL="0">
              <a:buNone/>
            </a:pPr>
            <a:r>
              <a:rPr lang="en-US" sz="1200" b="1" dirty="0">
                <a:solidFill>
                  <a:schemeClr val="accent1"/>
                </a:solidFill>
              </a:rPr>
              <a:t>Fri 5 Jun</a:t>
            </a:r>
            <a:endParaRPr lang="en-US" sz="1200" dirty="0"/>
          </a:p>
        </p:txBody>
      </p:sp>
      <p:sp>
        <p:nvSpPr>
          <p:cNvPr id="15" name="Text 13"/>
          <p:cNvSpPr txBox="1"/>
          <p:nvPr/>
        </p:nvSpPr>
        <p:spPr>
          <a:xfrm>
            <a:off x="4396130"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Dividend</a:t>
            </a:r>
            <a:endParaRPr lang="en-US" sz="1800" dirty="0"/>
          </a:p>
        </p:txBody>
      </p:sp>
      <p:sp>
        <p:nvSpPr>
          <p:cNvPr id="16" name="Text 14"/>
          <p:cNvSpPr txBox="1"/>
          <p:nvPr/>
        </p:nvSpPr>
        <p:spPr>
          <a:xfrm>
            <a:off x="4396130"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₹6.50 × 20 = ₹130, with a lesson on record dates.</a:t>
            </a:r>
            <a:endParaRPr lang="en-US" sz="1200" dirty="0"/>
          </a:p>
        </p:txBody>
      </p:sp>
      <p:sp>
        <p:nvSpPr>
          <p:cNvPr id="17" name="Bonus 1:1 dot"/>
          <p:cNvSpPr/>
          <p:nvPr/>
        </p:nvSpPr>
        <p:spPr>
          <a:xfrm>
            <a:off x="6187288" y="2331720"/>
            <a:ext cx="201168" cy="201168"/>
          </a:xfrm>
          <a:prstGeom prst="ellipse">
            <a:avLst/>
          </a:prstGeom>
          <a:solidFill>
            <a:schemeClr val="accent2"/>
          </a:solidFill>
          <a:ln/>
        </p:spPr>
      </p:sp>
      <p:sp>
        <p:nvSpPr>
          <p:cNvPr id="18" name="Text 16"/>
          <p:cNvSpPr txBox="1"/>
          <p:nvPr/>
        </p:nvSpPr>
        <p:spPr>
          <a:xfrm>
            <a:off x="6187288" y="2715768"/>
            <a:ext cx="1608277" cy="320040"/>
          </a:xfrm>
          <a:prstGeom prst="rect">
            <a:avLst/>
          </a:prstGeom>
          <a:noFill/>
          <a:ln/>
        </p:spPr>
        <p:txBody>
          <a:bodyPr wrap="square" lIns="0" tIns="0" rIns="0" bIns="0" rtlCol="0" anchor="t"/>
          <a:lstStyle/>
          <a:p>
            <a:pPr indent="0" marL="0">
              <a:buNone/>
            </a:pPr>
            <a:r>
              <a:rPr lang="en-US" sz="1200" b="1" dirty="0">
                <a:solidFill>
                  <a:schemeClr val="accent3"/>
                </a:solidFill>
              </a:rPr>
              <a:t>Thu 11 Jun</a:t>
            </a:r>
            <a:endParaRPr lang="en-US" sz="1200" dirty="0"/>
          </a:p>
        </p:txBody>
      </p:sp>
      <p:sp>
        <p:nvSpPr>
          <p:cNvPr id="19" name="Text 17"/>
          <p:cNvSpPr txBox="1"/>
          <p:nvPr/>
        </p:nvSpPr>
        <p:spPr>
          <a:xfrm>
            <a:off x="6187288"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Bonus 1:1</a:t>
            </a:r>
            <a:endParaRPr lang="en-US" sz="1800" dirty="0"/>
          </a:p>
        </p:txBody>
      </p:sp>
      <p:sp>
        <p:nvSpPr>
          <p:cNvPr id="20" name="Text 18"/>
          <p:cNvSpPr txBox="1"/>
          <p:nvPr/>
        </p:nvSpPr>
        <p:spPr>
          <a:xfrm>
            <a:off x="6187288"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Infosys holders get a free share each. Value stays the same.</a:t>
            </a:r>
            <a:endParaRPr lang="en-US" sz="1200" dirty="0"/>
          </a:p>
        </p:txBody>
      </p:sp>
      <p:sp>
        <p:nvSpPr>
          <p:cNvPr id="21" name="Split 1 → 5 dot"/>
          <p:cNvSpPr/>
          <p:nvPr/>
        </p:nvSpPr>
        <p:spPr>
          <a:xfrm>
            <a:off x="7978445" y="2331720"/>
            <a:ext cx="201168" cy="201168"/>
          </a:xfrm>
          <a:prstGeom prst="ellipse">
            <a:avLst/>
          </a:prstGeom>
          <a:solidFill>
            <a:schemeClr val="accent2"/>
          </a:solidFill>
          <a:ln/>
        </p:spPr>
      </p:sp>
      <p:sp>
        <p:nvSpPr>
          <p:cNvPr id="22" name="Text 20"/>
          <p:cNvSpPr txBox="1"/>
          <p:nvPr/>
        </p:nvSpPr>
        <p:spPr>
          <a:xfrm>
            <a:off x="7978445" y="2715768"/>
            <a:ext cx="1608277" cy="320040"/>
          </a:xfrm>
          <a:prstGeom prst="rect">
            <a:avLst/>
          </a:prstGeom>
          <a:noFill/>
          <a:ln/>
        </p:spPr>
        <p:txBody>
          <a:bodyPr wrap="square" lIns="0" tIns="0" rIns="0" bIns="0" rtlCol="0" anchor="t"/>
          <a:lstStyle/>
          <a:p>
            <a:pPr indent="0" marL="0">
              <a:buNone/>
            </a:pPr>
            <a:r>
              <a:rPr lang="en-US" sz="1200" b="1" dirty="0">
                <a:solidFill>
                  <a:schemeClr val="accent3"/>
                </a:solidFill>
              </a:rPr>
              <a:t>Wed 17 Jun</a:t>
            </a:r>
            <a:endParaRPr lang="en-US" sz="1200" dirty="0"/>
          </a:p>
        </p:txBody>
      </p:sp>
      <p:sp>
        <p:nvSpPr>
          <p:cNvPr id="23" name="Text 21"/>
          <p:cNvSpPr txBox="1"/>
          <p:nvPr/>
        </p:nvSpPr>
        <p:spPr>
          <a:xfrm>
            <a:off x="7978445"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Split 1 → 5</a:t>
            </a:r>
            <a:endParaRPr lang="en-US" sz="1800" dirty="0"/>
          </a:p>
        </p:txBody>
      </p:sp>
      <p:sp>
        <p:nvSpPr>
          <p:cNvPr id="24" name="Text 22"/>
          <p:cNvSpPr txBox="1"/>
          <p:nvPr/>
        </p:nvSpPr>
        <p:spPr>
          <a:xfrm>
            <a:off x="7978445"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Five times the shares at a fifth of the price.</a:t>
            </a:r>
            <a:endParaRPr lang="en-US" sz="1200" dirty="0"/>
          </a:p>
        </p:txBody>
      </p:sp>
      <p:sp>
        <p:nvSpPr>
          <p:cNvPr id="25" name="CAS arrives dot"/>
          <p:cNvSpPr/>
          <p:nvPr/>
        </p:nvSpPr>
        <p:spPr>
          <a:xfrm>
            <a:off x="9769602" y="2331720"/>
            <a:ext cx="201168" cy="201168"/>
          </a:xfrm>
          <a:prstGeom prst="ellipse">
            <a:avLst/>
          </a:prstGeom>
          <a:solidFill>
            <a:schemeClr val="accent2"/>
          </a:solidFill>
          <a:ln/>
        </p:spPr>
      </p:sp>
      <p:sp>
        <p:nvSpPr>
          <p:cNvPr id="26" name="Text 24"/>
          <p:cNvSpPr txBox="1"/>
          <p:nvPr/>
        </p:nvSpPr>
        <p:spPr>
          <a:xfrm>
            <a:off x="9769602" y="2715768"/>
            <a:ext cx="1608277" cy="320040"/>
          </a:xfrm>
          <a:prstGeom prst="rect">
            <a:avLst/>
          </a:prstGeom>
          <a:noFill/>
          <a:ln/>
        </p:spPr>
        <p:txBody>
          <a:bodyPr wrap="square" lIns="0" tIns="0" rIns="0" bIns="0" rtlCol="0" anchor="t"/>
          <a:lstStyle/>
          <a:p>
            <a:pPr indent="0" marL="0">
              <a:buNone/>
            </a:pPr>
            <a:r>
              <a:rPr lang="en-US" sz="1200" b="1" dirty="0">
                <a:solidFill>
                  <a:schemeClr val="accent3"/>
                </a:solidFill>
              </a:rPr>
              <a:t>Wed 1 Jul</a:t>
            </a:r>
            <a:endParaRPr lang="en-US" sz="1200" dirty="0"/>
          </a:p>
        </p:txBody>
      </p:sp>
      <p:sp>
        <p:nvSpPr>
          <p:cNvPr id="27" name="Text 25"/>
          <p:cNvSpPr txBox="1"/>
          <p:nvPr/>
        </p:nvSpPr>
        <p:spPr>
          <a:xfrm>
            <a:off x="9769602" y="3081528"/>
            <a:ext cx="1608277" cy="411480"/>
          </a:xfrm>
          <a:prstGeom prst="rect">
            <a:avLst/>
          </a:prstGeom>
          <a:noFill/>
          <a:ln/>
        </p:spPr>
        <p:txBody>
          <a:bodyPr wrap="square" lIns="0" tIns="0" rIns="0" bIns="0" rtlCol="0" anchor="t"/>
          <a:lstStyle/>
          <a:p>
            <a:pPr indent="0" marL="0">
              <a:buNone/>
            </a:pPr>
            <a:r>
              <a:rPr lang="en-US" sz="1800" b="1" dirty="0">
                <a:solidFill>
                  <a:schemeClr val="tx1"/>
                </a:solidFill>
              </a:rPr>
              <a:t>CAS arrives</a:t>
            </a:r>
            <a:endParaRPr lang="en-US" sz="1800" dirty="0"/>
          </a:p>
        </p:txBody>
      </p:sp>
      <p:sp>
        <p:nvSpPr>
          <p:cNvPr id="28" name="Text 26"/>
          <p:cNvSpPr txBox="1"/>
          <p:nvPr/>
        </p:nvSpPr>
        <p:spPr>
          <a:xfrm>
            <a:off x="9769602" y="3538728"/>
            <a:ext cx="1608277" cy="1188720"/>
          </a:xfrm>
          <a:prstGeom prst="rect">
            <a:avLst/>
          </a:prstGeom>
          <a:noFill/>
          <a:ln/>
        </p:spPr>
        <p:txBody>
          <a:bodyPr wrap="square" lIns="0" tIns="0" rIns="0" bIns="0" rtlCol="0" anchor="t"/>
          <a:lstStyle/>
          <a:p>
            <a:pPr indent="0" marL="0">
              <a:buNone/>
            </a:pPr>
            <a:r>
              <a:rPr lang="en-US" sz="1200" dirty="0">
                <a:solidFill>
                  <a:schemeClr val="tx2"/>
                </a:solidFill>
              </a:rPr>
              <a:t>The monthly statement to check against your own records.</a:t>
            </a:r>
            <a:endParaRPr lang="en-US" sz="1200" dirty="0"/>
          </a:p>
        </p:txBody>
      </p:sp>
      <p:sp>
        <p:nvSpPr>
          <p:cNvPr id="29" name="Text 27"/>
          <p:cNvSpPr txBox="1"/>
          <p:nvPr/>
        </p:nvSpPr>
        <p:spPr>
          <a:xfrm>
            <a:off x="813816" y="5257800"/>
            <a:ext cx="10564063" cy="457200"/>
          </a:xfrm>
          <a:prstGeom prst="rect">
            <a:avLst/>
          </a:prstGeom>
          <a:noFill/>
          <a:ln/>
        </p:spPr>
        <p:txBody>
          <a:bodyPr wrap="square" lIns="0" tIns="0" rIns="0" bIns="0" rtlCol="0" anchor="t"/>
          <a:lstStyle/>
          <a:p>
            <a:pPr indent="0" marL="0">
              <a:buNone/>
            </a:pPr>
            <a:r>
              <a:rPr lang="en-US" sz="1600" dirty="0">
                <a:solidFill>
                  <a:schemeClr val="tx2"/>
                </a:solidFill>
              </a:rPr>
              <a:t>Tap “Next day ⏭” and the depository does its work. This is exactly what a learner sees.</a:t>
            </a:r>
            <a:endParaRPr lang="en-US" sz="1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WHAT LEARNERS DO</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tx1"/>
                </a:solidFill>
              </a:rPr>
              <a:t>Eight flows, each one working and teaching</a:t>
            </a:r>
            <a:endParaRPr lang="en-US" sz="3600" dirty="0"/>
          </a:p>
        </p:txBody>
      </p:sp>
      <p:sp>
        <p:nvSpPr>
          <p:cNvPr id="4" name="Open an account card"/>
          <p:cNvSpPr/>
          <p:nvPr/>
        </p:nvSpPr>
        <p:spPr>
          <a:xfrm>
            <a:off x="813816" y="2240280"/>
            <a:ext cx="2503856" cy="1463040"/>
          </a:xfrm>
          <a:prstGeom prst="roundRect">
            <a:avLst>
              <a:gd name="adj" fmla="val 10000"/>
            </a:avLst>
          </a:prstGeom>
          <a:solidFill>
            <a:schemeClr val="bg1"/>
          </a:solidFill>
          <a:ln/>
        </p:spPr>
      </p:sp>
      <p:sp>
        <p:nvSpPr>
          <p:cNvPr id="5" name="Text 3"/>
          <p:cNvSpPr txBox="1"/>
          <p:nvPr/>
        </p:nvSpPr>
        <p:spPr>
          <a:xfrm>
            <a:off x="1042416" y="2441448"/>
            <a:ext cx="2046656" cy="411480"/>
          </a:xfrm>
          <a:prstGeom prst="rect">
            <a:avLst/>
          </a:prstGeom>
          <a:noFill/>
          <a:ln/>
        </p:spPr>
        <p:txBody>
          <a:bodyPr wrap="square" lIns="0" tIns="0" rIns="0" bIns="0" rtlCol="0" anchor="t"/>
          <a:lstStyle/>
          <a:p>
            <a:pPr indent="0" marL="0">
              <a:buNone/>
            </a:pPr>
            <a:r>
              <a:rPr lang="en-US" sz="1600" b="1" dirty="0">
                <a:solidFill>
                  <a:schemeClr val="tx1"/>
                </a:solidFill>
              </a:rPr>
              <a:t>Open an account</a:t>
            </a:r>
            <a:endParaRPr lang="en-US" sz="1600" dirty="0"/>
          </a:p>
        </p:txBody>
      </p:sp>
      <p:sp>
        <p:nvSpPr>
          <p:cNvPr id="6" name="Text 4"/>
          <p:cNvSpPr txBox="1"/>
          <p:nvPr/>
        </p:nvSpPr>
        <p:spPr>
          <a:xfrm>
            <a:off x="1042416" y="2898648"/>
            <a:ext cx="2046656" cy="731520"/>
          </a:xfrm>
          <a:prstGeom prst="rect">
            <a:avLst/>
          </a:prstGeom>
          <a:noFill/>
          <a:ln/>
        </p:spPr>
        <p:txBody>
          <a:bodyPr wrap="square" lIns="0" tIns="0" rIns="0" bIns="0" rtlCol="0" anchor="t"/>
          <a:lstStyle/>
          <a:p>
            <a:pPr indent="0" marL="0">
              <a:buNone/>
            </a:pPr>
            <a:r>
              <a:rPr lang="en-US" sz="1200" dirty="0">
                <a:solidFill>
                  <a:schemeClr val="tx2"/>
                </a:solidFill>
              </a:rPr>
              <a:t>Demo KYC, broker as DP, 16-digit BO ID, TPIN.</a:t>
            </a:r>
            <a:endParaRPr lang="en-US" sz="1200" dirty="0"/>
          </a:p>
        </p:txBody>
      </p:sp>
      <p:sp>
        <p:nvSpPr>
          <p:cNvPr id="7" name="Buy and sell card"/>
          <p:cNvSpPr/>
          <p:nvPr/>
        </p:nvSpPr>
        <p:spPr>
          <a:xfrm>
            <a:off x="3500552" y="2240280"/>
            <a:ext cx="2503856" cy="1463040"/>
          </a:xfrm>
          <a:prstGeom prst="roundRect">
            <a:avLst>
              <a:gd name="adj" fmla="val 10000"/>
            </a:avLst>
          </a:prstGeom>
          <a:solidFill>
            <a:schemeClr val="bg1"/>
          </a:solidFill>
          <a:ln/>
        </p:spPr>
      </p:sp>
      <p:sp>
        <p:nvSpPr>
          <p:cNvPr id="8" name="Text 6"/>
          <p:cNvSpPr txBox="1"/>
          <p:nvPr/>
        </p:nvSpPr>
        <p:spPr>
          <a:xfrm>
            <a:off x="3729152" y="2441448"/>
            <a:ext cx="2046656" cy="411480"/>
          </a:xfrm>
          <a:prstGeom prst="rect">
            <a:avLst/>
          </a:prstGeom>
          <a:noFill/>
          <a:ln/>
        </p:spPr>
        <p:txBody>
          <a:bodyPr wrap="square" lIns="0" tIns="0" rIns="0" bIns="0" rtlCol="0" anchor="t"/>
          <a:lstStyle/>
          <a:p>
            <a:pPr indent="0" marL="0">
              <a:buNone/>
            </a:pPr>
            <a:r>
              <a:rPr lang="en-US" sz="1600" b="1" dirty="0">
                <a:solidFill>
                  <a:schemeClr val="tx1"/>
                </a:solidFill>
              </a:rPr>
              <a:t>Buy and sell</a:t>
            </a:r>
            <a:endParaRPr lang="en-US" sz="1600" dirty="0"/>
          </a:p>
        </p:txBody>
      </p:sp>
      <p:sp>
        <p:nvSpPr>
          <p:cNvPr id="9" name="Text 7"/>
          <p:cNvSpPr txBox="1"/>
          <p:nvPr/>
        </p:nvSpPr>
        <p:spPr>
          <a:xfrm>
            <a:off x="3729152" y="2898648"/>
            <a:ext cx="2046656" cy="731520"/>
          </a:xfrm>
          <a:prstGeom prst="rect">
            <a:avLst/>
          </a:prstGeom>
          <a:noFill/>
          <a:ln/>
        </p:spPr>
        <p:txBody>
          <a:bodyPr wrap="square" lIns="0" tIns="0" rIns="0" bIns="0" rtlCol="0" anchor="t"/>
          <a:lstStyle/>
          <a:p>
            <a:pPr indent="0" marL="0">
              <a:buNone/>
            </a:pPr>
            <a:r>
              <a:rPr lang="en-US" sz="1200" dirty="0">
                <a:solidFill>
                  <a:schemeClr val="tx2"/>
                </a:solidFill>
              </a:rPr>
              <a:t>T+1 settlement, CDSL alerts, TPIN to approve a sale.</a:t>
            </a:r>
            <a:endParaRPr lang="en-US" sz="1200" dirty="0"/>
          </a:p>
        </p:txBody>
      </p:sp>
      <p:sp>
        <p:nvSpPr>
          <p:cNvPr id="10" name="Holdings and CAS card"/>
          <p:cNvSpPr/>
          <p:nvPr/>
        </p:nvSpPr>
        <p:spPr>
          <a:xfrm>
            <a:off x="6187288" y="2240280"/>
            <a:ext cx="2503856" cy="1463040"/>
          </a:xfrm>
          <a:prstGeom prst="roundRect">
            <a:avLst>
              <a:gd name="adj" fmla="val 10000"/>
            </a:avLst>
          </a:prstGeom>
          <a:solidFill>
            <a:schemeClr val="bg1"/>
          </a:solidFill>
          <a:ln/>
        </p:spPr>
      </p:sp>
      <p:sp>
        <p:nvSpPr>
          <p:cNvPr id="11" name="Text 9"/>
          <p:cNvSpPr txBox="1"/>
          <p:nvPr/>
        </p:nvSpPr>
        <p:spPr>
          <a:xfrm>
            <a:off x="6415888" y="2441448"/>
            <a:ext cx="2046656" cy="411480"/>
          </a:xfrm>
          <a:prstGeom prst="rect">
            <a:avLst/>
          </a:prstGeom>
          <a:noFill/>
          <a:ln/>
        </p:spPr>
        <p:txBody>
          <a:bodyPr wrap="square" lIns="0" tIns="0" rIns="0" bIns="0" rtlCol="0" anchor="t"/>
          <a:lstStyle/>
          <a:p>
            <a:pPr indent="0" marL="0">
              <a:buNone/>
            </a:pPr>
            <a:r>
              <a:rPr lang="en-US" sz="1600" b="1" dirty="0">
                <a:solidFill>
                  <a:schemeClr val="tx1"/>
                </a:solidFill>
              </a:rPr>
              <a:t>Holdings and CAS</a:t>
            </a:r>
            <a:endParaRPr lang="en-US" sz="1600" dirty="0"/>
          </a:p>
        </p:txBody>
      </p:sp>
      <p:sp>
        <p:nvSpPr>
          <p:cNvPr id="12" name="Text 10"/>
          <p:cNvSpPr txBox="1"/>
          <p:nvPr/>
        </p:nvSpPr>
        <p:spPr>
          <a:xfrm>
            <a:off x="6415888" y="2898648"/>
            <a:ext cx="2046656" cy="731520"/>
          </a:xfrm>
          <a:prstGeom prst="rect">
            <a:avLst/>
          </a:prstGeom>
          <a:noFill/>
          <a:ln/>
        </p:spPr>
        <p:txBody>
          <a:bodyPr wrap="square" lIns="0" tIns="0" rIns="0" bIns="0" rtlCol="0" anchor="t"/>
          <a:lstStyle/>
          <a:p>
            <a:pPr indent="0" marL="0">
              <a:buNone/>
            </a:pPr>
            <a:r>
              <a:rPr lang="en-US" sz="1200" dirty="0">
                <a:solidFill>
                  <a:schemeClr val="tx2"/>
                </a:solidFill>
              </a:rPr>
              <a:t>Average price, gain/loss and a monthly statement.</a:t>
            </a:r>
            <a:endParaRPr lang="en-US" sz="1200" dirty="0"/>
          </a:p>
        </p:txBody>
      </p:sp>
      <p:sp>
        <p:nvSpPr>
          <p:cNvPr id="13" name="Corporate actions card"/>
          <p:cNvSpPr/>
          <p:nvPr/>
        </p:nvSpPr>
        <p:spPr>
          <a:xfrm>
            <a:off x="8874023" y="2240280"/>
            <a:ext cx="2503856" cy="1463040"/>
          </a:xfrm>
          <a:prstGeom prst="roundRect">
            <a:avLst>
              <a:gd name="adj" fmla="val 10000"/>
            </a:avLst>
          </a:prstGeom>
          <a:solidFill>
            <a:schemeClr val="bg1"/>
          </a:solidFill>
          <a:ln/>
        </p:spPr>
      </p:sp>
      <p:sp>
        <p:nvSpPr>
          <p:cNvPr id="14" name="Text 12"/>
          <p:cNvSpPr txBox="1"/>
          <p:nvPr/>
        </p:nvSpPr>
        <p:spPr>
          <a:xfrm>
            <a:off x="9102623" y="2441448"/>
            <a:ext cx="2046656" cy="411480"/>
          </a:xfrm>
          <a:prstGeom prst="rect">
            <a:avLst/>
          </a:prstGeom>
          <a:noFill/>
          <a:ln/>
        </p:spPr>
        <p:txBody>
          <a:bodyPr wrap="square" lIns="0" tIns="0" rIns="0" bIns="0" rtlCol="0" anchor="t"/>
          <a:lstStyle/>
          <a:p>
            <a:pPr indent="0" marL="0">
              <a:buNone/>
            </a:pPr>
            <a:r>
              <a:rPr lang="en-US" sz="1600" b="1" dirty="0">
                <a:solidFill>
                  <a:schemeClr val="tx1"/>
                </a:solidFill>
              </a:rPr>
              <a:t>Corporate actions</a:t>
            </a:r>
            <a:endParaRPr lang="en-US" sz="1600" dirty="0"/>
          </a:p>
        </p:txBody>
      </p:sp>
      <p:sp>
        <p:nvSpPr>
          <p:cNvPr id="15" name="Text 13"/>
          <p:cNvSpPr txBox="1"/>
          <p:nvPr/>
        </p:nvSpPr>
        <p:spPr>
          <a:xfrm>
            <a:off x="9102623" y="2898648"/>
            <a:ext cx="2046656" cy="731520"/>
          </a:xfrm>
          <a:prstGeom prst="rect">
            <a:avLst/>
          </a:prstGeom>
          <a:noFill/>
          <a:ln/>
        </p:spPr>
        <p:txBody>
          <a:bodyPr wrap="square" lIns="0" tIns="0" rIns="0" bIns="0" rtlCol="0" anchor="t"/>
          <a:lstStyle/>
          <a:p>
            <a:pPr indent="0" marL="0">
              <a:buNone/>
            </a:pPr>
            <a:r>
              <a:rPr lang="en-US" sz="1200" dirty="0">
                <a:solidFill>
                  <a:schemeClr val="tx2"/>
                </a:solidFill>
              </a:rPr>
              <a:t>Dividend, bonus and split on fixed days.</a:t>
            </a:r>
            <a:endParaRPr lang="en-US" sz="1200" dirty="0"/>
          </a:p>
        </p:txBody>
      </p:sp>
      <p:sp>
        <p:nvSpPr>
          <p:cNvPr id="16" name="Pledge card"/>
          <p:cNvSpPr/>
          <p:nvPr/>
        </p:nvSpPr>
        <p:spPr>
          <a:xfrm>
            <a:off x="813816" y="3886200"/>
            <a:ext cx="2503856" cy="1463040"/>
          </a:xfrm>
          <a:prstGeom prst="roundRect">
            <a:avLst>
              <a:gd name="adj" fmla="val 10000"/>
            </a:avLst>
          </a:prstGeom>
          <a:solidFill>
            <a:schemeClr val="bg1"/>
          </a:solidFill>
          <a:ln/>
        </p:spPr>
      </p:sp>
      <p:sp>
        <p:nvSpPr>
          <p:cNvPr id="17" name="Text 15"/>
          <p:cNvSpPr txBox="1"/>
          <p:nvPr/>
        </p:nvSpPr>
        <p:spPr>
          <a:xfrm>
            <a:off x="1042416" y="4087368"/>
            <a:ext cx="2046656" cy="411480"/>
          </a:xfrm>
          <a:prstGeom prst="rect">
            <a:avLst/>
          </a:prstGeom>
          <a:noFill/>
          <a:ln/>
        </p:spPr>
        <p:txBody>
          <a:bodyPr wrap="square" lIns="0" tIns="0" rIns="0" bIns="0" rtlCol="0" anchor="t"/>
          <a:lstStyle/>
          <a:p>
            <a:pPr indent="0" marL="0">
              <a:buNone/>
            </a:pPr>
            <a:r>
              <a:rPr lang="en-US" sz="1600" b="1" dirty="0">
                <a:solidFill>
                  <a:schemeClr val="tx1"/>
                </a:solidFill>
              </a:rPr>
              <a:t>Pledge</a:t>
            </a:r>
            <a:endParaRPr lang="en-US" sz="1600" dirty="0"/>
          </a:p>
        </p:txBody>
      </p:sp>
      <p:sp>
        <p:nvSpPr>
          <p:cNvPr id="18" name="Text 16"/>
          <p:cNvSpPr txBox="1"/>
          <p:nvPr/>
        </p:nvSpPr>
        <p:spPr>
          <a:xfrm>
            <a:off x="1042416" y="4544568"/>
            <a:ext cx="2046656" cy="731520"/>
          </a:xfrm>
          <a:prstGeom prst="rect">
            <a:avLst/>
          </a:prstGeom>
          <a:noFill/>
          <a:ln/>
        </p:spPr>
        <p:txBody>
          <a:bodyPr wrap="square" lIns="0" tIns="0" rIns="0" bIns="0" rtlCol="0" anchor="t"/>
          <a:lstStyle/>
          <a:p>
            <a:pPr indent="0" marL="0">
              <a:buNone/>
            </a:pPr>
            <a:r>
              <a:rPr lang="en-US" sz="1200" dirty="0">
                <a:solidFill>
                  <a:schemeClr val="tx2"/>
                </a:solidFill>
              </a:rPr>
              <a:t>CDSL OTP, haircut, margin that falls with prices.</a:t>
            </a:r>
            <a:endParaRPr lang="en-US" sz="1200" dirty="0"/>
          </a:p>
        </p:txBody>
      </p:sp>
      <p:sp>
        <p:nvSpPr>
          <p:cNvPr id="19" name="Nominee card"/>
          <p:cNvSpPr/>
          <p:nvPr/>
        </p:nvSpPr>
        <p:spPr>
          <a:xfrm>
            <a:off x="3500552" y="3886200"/>
            <a:ext cx="2503856" cy="1463040"/>
          </a:xfrm>
          <a:prstGeom prst="roundRect">
            <a:avLst>
              <a:gd name="adj" fmla="val 10000"/>
            </a:avLst>
          </a:prstGeom>
          <a:solidFill>
            <a:schemeClr val="bg1"/>
          </a:solidFill>
          <a:ln/>
        </p:spPr>
      </p:sp>
      <p:sp>
        <p:nvSpPr>
          <p:cNvPr id="20" name="Text 18"/>
          <p:cNvSpPr txBox="1"/>
          <p:nvPr/>
        </p:nvSpPr>
        <p:spPr>
          <a:xfrm>
            <a:off x="3729152" y="4087368"/>
            <a:ext cx="2046656" cy="411480"/>
          </a:xfrm>
          <a:prstGeom prst="rect">
            <a:avLst/>
          </a:prstGeom>
          <a:noFill/>
          <a:ln/>
        </p:spPr>
        <p:txBody>
          <a:bodyPr wrap="square" lIns="0" tIns="0" rIns="0" bIns="0" rtlCol="0" anchor="t"/>
          <a:lstStyle/>
          <a:p>
            <a:pPr indent="0" marL="0">
              <a:buNone/>
            </a:pPr>
            <a:r>
              <a:rPr lang="en-US" sz="1600" b="1" dirty="0">
                <a:solidFill>
                  <a:schemeClr val="tx1"/>
                </a:solidFill>
              </a:rPr>
              <a:t>Nominee</a:t>
            </a:r>
            <a:endParaRPr lang="en-US" sz="1600" dirty="0"/>
          </a:p>
        </p:txBody>
      </p:sp>
      <p:sp>
        <p:nvSpPr>
          <p:cNvPr id="21" name="Text 19"/>
          <p:cNvSpPr txBox="1"/>
          <p:nvPr/>
        </p:nvSpPr>
        <p:spPr>
          <a:xfrm>
            <a:off x="3729152" y="4544568"/>
            <a:ext cx="2046656" cy="731520"/>
          </a:xfrm>
          <a:prstGeom prst="rect">
            <a:avLst/>
          </a:prstGeom>
          <a:noFill/>
          <a:ln/>
        </p:spPr>
        <p:txBody>
          <a:bodyPr wrap="square" lIns="0" tIns="0" rIns="0" bIns="0" rtlCol="0" anchor="t"/>
          <a:lstStyle/>
          <a:p>
            <a:pPr indent="0" marL="0">
              <a:buNone/>
            </a:pPr>
            <a:r>
              <a:rPr lang="en-US" sz="1200" dirty="0">
                <a:solidFill>
                  <a:schemeClr val="tx2"/>
                </a:solidFill>
              </a:rPr>
              <a:t>Add one in a minute, or see what family faces without.</a:t>
            </a:r>
            <a:endParaRPr lang="en-US" sz="1200" dirty="0"/>
          </a:p>
        </p:txBody>
      </p:sp>
      <p:sp>
        <p:nvSpPr>
          <p:cNvPr id="22" name="E-voting card"/>
          <p:cNvSpPr/>
          <p:nvPr/>
        </p:nvSpPr>
        <p:spPr>
          <a:xfrm>
            <a:off x="6187288" y="3886200"/>
            <a:ext cx="2503856" cy="1463040"/>
          </a:xfrm>
          <a:prstGeom prst="roundRect">
            <a:avLst>
              <a:gd name="adj" fmla="val 10000"/>
            </a:avLst>
          </a:prstGeom>
          <a:solidFill>
            <a:schemeClr val="bg1"/>
          </a:solidFill>
          <a:ln/>
        </p:spPr>
      </p:sp>
      <p:sp>
        <p:nvSpPr>
          <p:cNvPr id="23" name="Text 21"/>
          <p:cNvSpPr txBox="1"/>
          <p:nvPr/>
        </p:nvSpPr>
        <p:spPr>
          <a:xfrm>
            <a:off x="6415888" y="4087368"/>
            <a:ext cx="2046656" cy="411480"/>
          </a:xfrm>
          <a:prstGeom prst="rect">
            <a:avLst/>
          </a:prstGeom>
          <a:noFill/>
          <a:ln/>
        </p:spPr>
        <p:txBody>
          <a:bodyPr wrap="square" lIns="0" tIns="0" rIns="0" bIns="0" rtlCol="0" anchor="t"/>
          <a:lstStyle/>
          <a:p>
            <a:pPr indent="0" marL="0">
              <a:buNone/>
            </a:pPr>
            <a:r>
              <a:rPr lang="en-US" sz="1600" b="1" dirty="0">
                <a:solidFill>
                  <a:schemeClr val="tx1"/>
                </a:solidFill>
              </a:rPr>
              <a:t>E-voting</a:t>
            </a:r>
            <a:endParaRPr lang="en-US" sz="1600" dirty="0"/>
          </a:p>
        </p:txBody>
      </p:sp>
      <p:sp>
        <p:nvSpPr>
          <p:cNvPr id="24" name="Text 22"/>
          <p:cNvSpPr txBox="1"/>
          <p:nvPr/>
        </p:nvSpPr>
        <p:spPr>
          <a:xfrm>
            <a:off x="6415888" y="4544568"/>
            <a:ext cx="2046656" cy="731520"/>
          </a:xfrm>
          <a:prstGeom prst="rect">
            <a:avLst/>
          </a:prstGeom>
          <a:noFill/>
          <a:ln/>
        </p:spPr>
        <p:txBody>
          <a:bodyPr wrap="square" lIns="0" tIns="0" rIns="0" bIns="0" rtlCol="0" anchor="t"/>
          <a:lstStyle/>
          <a:p>
            <a:pPr indent="0" marL="0">
              <a:buNone/>
            </a:pPr>
            <a:r>
              <a:rPr lang="en-US" sz="1200" dirty="0">
                <a:solidFill>
                  <a:schemeClr val="tx2"/>
                </a:solidFill>
              </a:rPr>
              <a:t>An AGM resolution in three plain lines.</a:t>
            </a:r>
            <a:endParaRPr lang="en-US" sz="1200" dirty="0"/>
          </a:p>
        </p:txBody>
      </p:sp>
      <p:sp>
        <p:nvSpPr>
          <p:cNvPr id="25" name="Scam Shield card"/>
          <p:cNvSpPr/>
          <p:nvPr/>
        </p:nvSpPr>
        <p:spPr>
          <a:xfrm>
            <a:off x="8874023" y="3886200"/>
            <a:ext cx="2503856" cy="1463040"/>
          </a:xfrm>
          <a:prstGeom prst="roundRect">
            <a:avLst>
              <a:gd name="adj" fmla="val 10000"/>
            </a:avLst>
          </a:prstGeom>
          <a:solidFill>
            <a:schemeClr val="bg1"/>
          </a:solidFill>
          <a:ln/>
        </p:spPr>
      </p:sp>
      <p:sp>
        <p:nvSpPr>
          <p:cNvPr id="26" name="Text 24"/>
          <p:cNvSpPr txBox="1"/>
          <p:nvPr/>
        </p:nvSpPr>
        <p:spPr>
          <a:xfrm>
            <a:off x="9102623" y="4087368"/>
            <a:ext cx="2046656" cy="411480"/>
          </a:xfrm>
          <a:prstGeom prst="rect">
            <a:avLst/>
          </a:prstGeom>
          <a:noFill/>
          <a:ln/>
        </p:spPr>
        <p:txBody>
          <a:bodyPr wrap="square" lIns="0" tIns="0" rIns="0" bIns="0" rtlCol="0" anchor="t"/>
          <a:lstStyle/>
          <a:p>
            <a:pPr indent="0" marL="0">
              <a:buNone/>
            </a:pPr>
            <a:r>
              <a:rPr lang="en-US" sz="1600" b="1" dirty="0">
                <a:solidFill>
                  <a:schemeClr val="tx1"/>
                </a:solidFill>
              </a:rPr>
              <a:t>Scam Shield</a:t>
            </a:r>
            <a:endParaRPr lang="en-US" sz="1600" dirty="0"/>
          </a:p>
        </p:txBody>
      </p:sp>
      <p:sp>
        <p:nvSpPr>
          <p:cNvPr id="27" name="Text 25"/>
          <p:cNvSpPr txBox="1"/>
          <p:nvPr/>
        </p:nvSpPr>
        <p:spPr>
          <a:xfrm>
            <a:off x="9102623" y="4544568"/>
            <a:ext cx="2046656" cy="731520"/>
          </a:xfrm>
          <a:prstGeom prst="rect">
            <a:avLst/>
          </a:prstGeom>
          <a:noFill/>
          <a:ln/>
        </p:spPr>
        <p:txBody>
          <a:bodyPr wrap="square" lIns="0" tIns="0" rIns="0" bIns="0" rtlCol="0" anchor="t"/>
          <a:lstStyle/>
          <a:p>
            <a:pPr indent="0" marL="0">
              <a:buNone/>
            </a:pPr>
            <a:r>
              <a:rPr lang="en-US" sz="1200" dirty="0">
                <a:solidFill>
                  <a:schemeClr val="tx2"/>
                </a:solidFill>
              </a:rPr>
              <a:t>Judge five WhatsApp messages: safe or scam?</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4"/>
                </a:solidFill>
              </a:rPr>
              <a:t>INSIDE THE APP</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bg2"/>
                </a:solidFill>
              </a:rPr>
              <a:t>The depository, made visible</a:t>
            </a:r>
            <a:endParaRPr lang="en-US" sz="3600" dirty="0"/>
          </a:p>
        </p:txBody>
      </p:sp>
      <p:sp>
        <p:nvSpPr>
          <p:cNvPr id="4" name="T+1 alerts phone frame"/>
          <p:cNvSpPr/>
          <p:nvPr/>
        </p:nvSpPr>
        <p:spPr>
          <a:xfrm>
            <a:off x="1329652" y="2039112"/>
            <a:ext cx="1609344" cy="3090672"/>
          </a:xfrm>
          <a:prstGeom prst="roundRect">
            <a:avLst>
              <a:gd name="adj" fmla="val 15909"/>
            </a:avLst>
          </a:prstGeom>
          <a:solidFill>
            <a:srgbClr val="061615"/>
          </a:solidFill>
          <a:ln/>
        </p:spPr>
      </p:sp>
      <p:pic>
        <p:nvPicPr>
          <p:cNvPr id="5" name="T+1 alerts phone" descr="Three CDSL alerts confirming shares credited on T+1">    </p:cNvPr>
          <p:cNvPicPr>
            <a:picLocks noChangeAspect="1"/>
          </p:cNvPicPr>
          <p:nvPr/>
        </p:nvPicPr>
        <p:blipFill>
          <a:blip r:embed="rId1"/>
          <a:srcRect l="0" r="0" t="0" b="0"/>
          <a:stretch/>
        </p:blipFill>
        <p:spPr>
          <a:xfrm>
            <a:off x="1393660" y="2103120"/>
            <a:ext cx="1481328" cy="2962656"/>
          </a:xfrm>
          <a:prstGeom prst="rect">
            <a:avLst/>
          </a:prstGeom>
        </p:spPr>
      </p:pic>
      <p:sp>
        <p:nvSpPr>
          <p:cNvPr id="6" name="Text 3"/>
          <p:cNvSpPr txBox="1"/>
          <p:nvPr/>
        </p:nvSpPr>
        <p:spPr>
          <a:xfrm>
            <a:off x="905256" y="5257800"/>
            <a:ext cx="2458136" cy="640080"/>
          </a:xfrm>
          <a:prstGeom prst="rect">
            <a:avLst/>
          </a:prstGeom>
          <a:noFill/>
          <a:ln/>
        </p:spPr>
        <p:txBody>
          <a:bodyPr wrap="square" lIns="0" tIns="0" rIns="0" bIns="0" rtlCol="0" anchor="t"/>
          <a:lstStyle/>
          <a:p>
            <a:pPr algn="ctr" indent="0" marL="0">
              <a:buNone/>
            </a:pPr>
            <a:r>
              <a:rPr lang="en-US" sz="1200" b="1" dirty="0">
                <a:solidFill>
                  <a:schemeClr val="bg2"/>
                </a:solidFill>
              </a:rPr>
              <a:t>T+1 alerts</a:t>
            </a:r>
            <a:endParaRPr lang="en-US" sz="1200" dirty="0"/>
          </a:p>
          <a:p>
            <a:pPr algn="ctr" indent="0" marL="0">
              <a:buNone/>
            </a:pPr>
            <a:r>
              <a:rPr lang="en-US" sz="1200" dirty="0">
                <a:solidFill>
                  <a:schemeClr val="accent6"/>
                </a:solidFill>
              </a:rPr>
              <a:t>straight from the depository</a:t>
            </a:r>
            <a:endParaRPr lang="en-US" sz="1200" dirty="0"/>
          </a:p>
        </p:txBody>
      </p:sp>
      <p:sp>
        <p:nvSpPr>
          <p:cNvPr id="7" name="Dividend day phone frame"/>
          <p:cNvSpPr/>
          <p:nvPr/>
        </p:nvSpPr>
        <p:spPr>
          <a:xfrm>
            <a:off x="3970668" y="2039112"/>
            <a:ext cx="1609344" cy="3090672"/>
          </a:xfrm>
          <a:prstGeom prst="roundRect">
            <a:avLst>
              <a:gd name="adj" fmla="val 15909"/>
            </a:avLst>
          </a:prstGeom>
          <a:solidFill>
            <a:srgbClr val="061615"/>
          </a:solidFill>
          <a:ln/>
        </p:spPr>
      </p:sp>
      <p:pic>
        <p:nvPicPr>
          <p:cNvPr id="8" name="Dividend day phone" descr="Dividend lesson card showing ₹130 credited for 20 ITC shares">    </p:cNvPr>
          <p:cNvPicPr>
            <a:picLocks noChangeAspect="1"/>
          </p:cNvPicPr>
          <p:nvPr/>
        </p:nvPicPr>
        <p:blipFill>
          <a:blip r:embed="rId2"/>
          <a:srcRect l="0" r="0" t="0" b="0"/>
          <a:stretch/>
        </p:blipFill>
        <p:spPr>
          <a:xfrm>
            <a:off x="4034676" y="2103120"/>
            <a:ext cx="1481328" cy="2962656"/>
          </a:xfrm>
          <a:prstGeom prst="rect">
            <a:avLst/>
          </a:prstGeom>
        </p:spPr>
      </p:pic>
      <p:sp>
        <p:nvSpPr>
          <p:cNvPr id="9" name="Text 5"/>
          <p:cNvSpPr txBox="1"/>
          <p:nvPr/>
        </p:nvSpPr>
        <p:spPr>
          <a:xfrm>
            <a:off x="3546272" y="5257800"/>
            <a:ext cx="2458136" cy="640080"/>
          </a:xfrm>
          <a:prstGeom prst="rect">
            <a:avLst/>
          </a:prstGeom>
          <a:noFill/>
          <a:ln/>
        </p:spPr>
        <p:txBody>
          <a:bodyPr wrap="square" lIns="0" tIns="0" rIns="0" bIns="0" rtlCol="0" anchor="t"/>
          <a:lstStyle/>
          <a:p>
            <a:pPr algn="ctr" indent="0" marL="0">
              <a:buNone/>
            </a:pPr>
            <a:r>
              <a:rPr lang="en-US" sz="1200" b="1" dirty="0">
                <a:solidFill>
                  <a:schemeClr val="bg2"/>
                </a:solidFill>
              </a:rPr>
              <a:t>Dividend day</a:t>
            </a:r>
            <a:endParaRPr lang="en-US" sz="1200" dirty="0"/>
          </a:p>
          <a:p>
            <a:pPr algn="ctr" indent="0" marL="0">
              <a:buNone/>
            </a:pPr>
            <a:r>
              <a:rPr lang="en-US" sz="1200" dirty="0">
                <a:solidFill>
                  <a:schemeClr val="accent6"/>
                </a:solidFill>
              </a:rPr>
              <a:t>what happened to you, then why</a:t>
            </a:r>
            <a:endParaRPr lang="en-US" sz="1200" dirty="0"/>
          </a:p>
        </p:txBody>
      </p:sp>
      <p:sp>
        <p:nvSpPr>
          <p:cNvPr id="10" name="TPIN to sell phone frame"/>
          <p:cNvSpPr/>
          <p:nvPr/>
        </p:nvSpPr>
        <p:spPr>
          <a:xfrm>
            <a:off x="6611684" y="2039112"/>
            <a:ext cx="1609344" cy="3090672"/>
          </a:xfrm>
          <a:prstGeom prst="roundRect">
            <a:avLst>
              <a:gd name="adj" fmla="val 15909"/>
            </a:avLst>
          </a:prstGeom>
          <a:solidFill>
            <a:srgbClr val="061615"/>
          </a:solidFill>
          <a:ln/>
        </p:spPr>
      </p:sp>
      <p:pic>
        <p:nvPicPr>
          <p:cNvPr id="11" name="TPIN to sell phone" descr="Sale approval screen asking for the CDSL TPIN">    </p:cNvPr>
          <p:cNvPicPr>
            <a:picLocks noChangeAspect="1"/>
          </p:cNvPicPr>
          <p:nvPr/>
        </p:nvPicPr>
        <p:blipFill>
          <a:blip r:embed="rId3"/>
          <a:srcRect l="0" r="0" t="0" b="0"/>
          <a:stretch/>
        </p:blipFill>
        <p:spPr>
          <a:xfrm>
            <a:off x="6675692" y="2103120"/>
            <a:ext cx="1481328" cy="2962656"/>
          </a:xfrm>
          <a:prstGeom prst="rect">
            <a:avLst/>
          </a:prstGeom>
        </p:spPr>
      </p:pic>
      <p:sp>
        <p:nvSpPr>
          <p:cNvPr id="12" name="Text 7"/>
          <p:cNvSpPr txBox="1"/>
          <p:nvPr/>
        </p:nvSpPr>
        <p:spPr>
          <a:xfrm>
            <a:off x="6187288" y="5257800"/>
            <a:ext cx="2458136" cy="640080"/>
          </a:xfrm>
          <a:prstGeom prst="rect">
            <a:avLst/>
          </a:prstGeom>
          <a:noFill/>
          <a:ln/>
        </p:spPr>
        <p:txBody>
          <a:bodyPr wrap="square" lIns="0" tIns="0" rIns="0" bIns="0" rtlCol="0" anchor="t"/>
          <a:lstStyle/>
          <a:p>
            <a:pPr algn="ctr" indent="0" marL="0">
              <a:buNone/>
            </a:pPr>
            <a:r>
              <a:rPr lang="en-US" sz="1200" b="1" dirty="0">
                <a:solidFill>
                  <a:schemeClr val="bg2"/>
                </a:solidFill>
              </a:rPr>
              <a:t>TPIN to sell</a:t>
            </a:r>
            <a:endParaRPr lang="en-US" sz="1200" dirty="0"/>
          </a:p>
          <a:p>
            <a:pPr algn="ctr" indent="0" marL="0">
              <a:buNone/>
            </a:pPr>
            <a:r>
              <a:rPr lang="en-US" sz="1200" dirty="0">
                <a:solidFill>
                  <a:schemeClr val="accent6"/>
                </a:solidFill>
              </a:rPr>
              <a:t>nobody moves your shares without you</a:t>
            </a:r>
            <a:endParaRPr lang="en-US" sz="1200" dirty="0"/>
          </a:p>
        </p:txBody>
      </p:sp>
      <p:sp>
        <p:nvSpPr>
          <p:cNvPr id="13" name="Monthly CAS phone frame"/>
          <p:cNvSpPr/>
          <p:nvPr/>
        </p:nvSpPr>
        <p:spPr>
          <a:xfrm>
            <a:off x="9252699" y="2039112"/>
            <a:ext cx="1609344" cy="3090672"/>
          </a:xfrm>
          <a:prstGeom prst="roundRect">
            <a:avLst>
              <a:gd name="adj" fmla="val 15909"/>
            </a:avLst>
          </a:prstGeom>
          <a:solidFill>
            <a:srgbClr val="061615"/>
          </a:solidFill>
          <a:ln/>
        </p:spPr>
      </p:sp>
      <p:pic>
        <p:nvPicPr>
          <p:cNvPr id="14" name="Monthly CAS phone" descr="Monthly Consolidated Account Statement with holdings and nominee status">    </p:cNvPr>
          <p:cNvPicPr>
            <a:picLocks noChangeAspect="1"/>
          </p:cNvPicPr>
          <p:nvPr/>
        </p:nvPicPr>
        <p:blipFill>
          <a:blip r:embed="rId4"/>
          <a:srcRect l="0" r="0" t="0" b="0"/>
          <a:stretch/>
        </p:blipFill>
        <p:spPr>
          <a:xfrm>
            <a:off x="9316707" y="2103120"/>
            <a:ext cx="1481328" cy="2962656"/>
          </a:xfrm>
          <a:prstGeom prst="rect">
            <a:avLst/>
          </a:prstGeom>
        </p:spPr>
      </p:pic>
      <p:sp>
        <p:nvSpPr>
          <p:cNvPr id="15" name="Text 9"/>
          <p:cNvSpPr txBox="1"/>
          <p:nvPr/>
        </p:nvSpPr>
        <p:spPr>
          <a:xfrm>
            <a:off x="8828303" y="5257800"/>
            <a:ext cx="2458136" cy="640080"/>
          </a:xfrm>
          <a:prstGeom prst="rect">
            <a:avLst/>
          </a:prstGeom>
          <a:noFill/>
          <a:ln/>
        </p:spPr>
        <p:txBody>
          <a:bodyPr wrap="square" lIns="0" tIns="0" rIns="0" bIns="0" rtlCol="0" anchor="t"/>
          <a:lstStyle/>
          <a:p>
            <a:pPr algn="ctr" indent="0" marL="0">
              <a:buNone/>
            </a:pPr>
            <a:r>
              <a:rPr lang="en-US" sz="1200" b="1" dirty="0">
                <a:solidFill>
                  <a:schemeClr val="bg2"/>
                </a:solidFill>
              </a:rPr>
              <a:t>Monthly CAS</a:t>
            </a:r>
            <a:endParaRPr lang="en-US" sz="1200" dirty="0"/>
          </a:p>
          <a:p>
            <a:pPr algn="ctr" indent="0" marL="0">
              <a:buNone/>
            </a:pPr>
            <a:r>
              <a:rPr lang="en-US" sz="1200" dirty="0">
                <a:solidFill>
                  <a:schemeClr val="accent6"/>
                </a:solidFill>
              </a:rPr>
              <a:t>independent proof of what you own</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PROTECTION IS PART OF THE LESSON</a:t>
            </a:r>
            <a:endParaRPr lang="en-US" sz="1200" dirty="0"/>
          </a:p>
        </p:txBody>
      </p:sp>
      <p:sp>
        <p:nvSpPr>
          <p:cNvPr id="3" name="Text 0"/>
          <p:cNvSpPr/>
          <p:nvPr>
            <p:ph idx="101" type="title" hasCustomPrompt="1"/>
          </p:nvPr>
        </p:nvSpPr>
        <p:spPr>
          <a:xfrm>
            <a:off x="813816" y="1051560"/>
            <a:ext cx="7863840" cy="1097280"/>
          </a:xfrm>
          <a:prstGeom prst="rect">
            <a:avLst/>
          </a:prstGeom>
          <a:noFill/>
          <a:ln/>
        </p:spPr>
        <p:txBody>
          <a:bodyPr wrap="square" lIns="0" tIns="0" rIns="0" bIns="0" rtlCol="0" anchor="t"/>
          <a:lstStyle/>
          <a:p>
            <a:pPr algn="l" indent="0" marL="0">
              <a:buNone/>
            </a:pPr>
            <a:r>
              <a:rPr lang="en-US" sz="3600" b="1" dirty="0">
                <a:solidFill>
                  <a:schemeClr val="tx1"/>
                </a:solidFill>
              </a:rPr>
              <a:t>Learners practise saying no before real money is at stake</a:t>
            </a:r>
            <a:endParaRPr lang="en-US" sz="3600" dirty="0"/>
          </a:p>
        </p:txBody>
      </p:sp>
      <p:sp>
        <p:nvSpPr>
          <p:cNvPr id="4" name="Scam Shield marker"/>
          <p:cNvSpPr/>
          <p:nvPr/>
        </p:nvSpPr>
        <p:spPr>
          <a:xfrm>
            <a:off x="813816" y="2350008"/>
            <a:ext cx="384048" cy="384048"/>
          </a:xfrm>
          <a:prstGeom prst="ellipse">
            <a:avLst/>
          </a:prstGeom>
          <a:solidFill>
            <a:schemeClr val="accent1"/>
          </a:solidFill>
          <a:ln/>
        </p:spPr>
      </p:sp>
      <p:sp>
        <p:nvSpPr>
          <p:cNvPr id="5" name="Text 3"/>
          <p:cNvSpPr txBox="1"/>
          <p:nvPr/>
        </p:nvSpPr>
        <p:spPr>
          <a:xfrm>
            <a:off x="813816" y="239572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1</a:t>
            </a:r>
            <a:endParaRPr lang="en-US" sz="1400" dirty="0"/>
          </a:p>
        </p:txBody>
      </p:sp>
      <p:sp>
        <p:nvSpPr>
          <p:cNvPr id="6" name="Text 4"/>
          <p:cNvSpPr txBox="1"/>
          <p:nvPr/>
        </p:nvSpPr>
        <p:spPr>
          <a:xfrm>
            <a:off x="1408176" y="2331720"/>
            <a:ext cx="7223760" cy="384048"/>
          </a:xfrm>
          <a:prstGeom prst="rect">
            <a:avLst/>
          </a:prstGeom>
          <a:noFill/>
          <a:ln/>
        </p:spPr>
        <p:txBody>
          <a:bodyPr wrap="square" lIns="0" tIns="0" rIns="0" bIns="0" rtlCol="0" anchor="t"/>
          <a:lstStyle/>
          <a:p>
            <a:pPr indent="0" marL="0">
              <a:buNone/>
            </a:pPr>
            <a:r>
              <a:rPr lang="en-US" sz="1800" b="1" dirty="0">
                <a:solidFill>
                  <a:schemeClr val="tx1"/>
                </a:solidFill>
              </a:rPr>
              <a:t>Scam Shield</a:t>
            </a:r>
            <a:endParaRPr lang="en-US" sz="1800" dirty="0"/>
          </a:p>
        </p:txBody>
      </p:sp>
      <p:sp>
        <p:nvSpPr>
          <p:cNvPr id="7" name="Text 5"/>
          <p:cNvSpPr txBox="1"/>
          <p:nvPr/>
        </p:nvSpPr>
        <p:spPr>
          <a:xfrm>
            <a:off x="1408176" y="2743200"/>
            <a:ext cx="7223760" cy="777240"/>
          </a:xfrm>
          <a:prstGeom prst="rect">
            <a:avLst/>
          </a:prstGeom>
          <a:noFill/>
          <a:ln/>
        </p:spPr>
        <p:txBody>
          <a:bodyPr wrap="square" lIns="0" tIns="0" rIns="0" bIns="0" rtlCol="0" anchor="t"/>
          <a:lstStyle/>
          <a:p>
            <a:pPr indent="0" marL="0">
              <a:buNone/>
            </a:pPr>
            <a:r>
              <a:rPr lang="en-US" sz="1400" dirty="0">
                <a:solidFill>
                  <a:schemeClr val="tx2"/>
                </a:solidFill>
              </a:rPr>
              <a:t>Five real-looking WhatsApp messages: “300% guaranteed”, a fake KYC block asking for TPIN and OTP, an unregistered “stock guru”. Then how to check SEBI registration and report to 1930.</a:t>
            </a:r>
            <a:endParaRPr lang="en-US" sz="1400" dirty="0"/>
          </a:p>
        </p:txBody>
      </p:sp>
      <p:sp>
        <p:nvSpPr>
          <p:cNvPr id="8" name="Nominee prompt marker"/>
          <p:cNvSpPr/>
          <p:nvPr/>
        </p:nvSpPr>
        <p:spPr>
          <a:xfrm>
            <a:off x="813816" y="3675888"/>
            <a:ext cx="384048" cy="384048"/>
          </a:xfrm>
          <a:prstGeom prst="ellipse">
            <a:avLst/>
          </a:prstGeom>
          <a:solidFill>
            <a:schemeClr val="accent1"/>
          </a:solidFill>
          <a:ln/>
        </p:spPr>
      </p:sp>
      <p:sp>
        <p:nvSpPr>
          <p:cNvPr id="9" name="Text 7"/>
          <p:cNvSpPr txBox="1"/>
          <p:nvPr/>
        </p:nvSpPr>
        <p:spPr>
          <a:xfrm>
            <a:off x="813816" y="372160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2</a:t>
            </a:r>
            <a:endParaRPr lang="en-US" sz="1400" dirty="0"/>
          </a:p>
        </p:txBody>
      </p:sp>
      <p:sp>
        <p:nvSpPr>
          <p:cNvPr id="10" name="Text 8"/>
          <p:cNvSpPr txBox="1"/>
          <p:nvPr/>
        </p:nvSpPr>
        <p:spPr>
          <a:xfrm>
            <a:off x="1408176" y="3657600"/>
            <a:ext cx="7223760" cy="384048"/>
          </a:xfrm>
          <a:prstGeom prst="rect">
            <a:avLst/>
          </a:prstGeom>
          <a:noFill/>
          <a:ln/>
        </p:spPr>
        <p:txBody>
          <a:bodyPr wrap="square" lIns="0" tIns="0" rIns="0" bIns="0" rtlCol="0" anchor="t"/>
          <a:lstStyle/>
          <a:p>
            <a:pPr indent="0" marL="0">
              <a:buNone/>
            </a:pPr>
            <a:r>
              <a:rPr lang="en-US" sz="1800" b="1" dirty="0">
                <a:solidFill>
                  <a:schemeClr val="tx1"/>
                </a:solidFill>
              </a:rPr>
              <a:t>Nominee prompt</a:t>
            </a:r>
            <a:endParaRPr lang="en-US" sz="1800" dirty="0"/>
          </a:p>
        </p:txBody>
      </p:sp>
      <p:sp>
        <p:nvSpPr>
          <p:cNvPr id="11" name="Text 9"/>
          <p:cNvSpPr txBox="1"/>
          <p:nvPr/>
        </p:nvSpPr>
        <p:spPr>
          <a:xfrm>
            <a:off x="1408176" y="4069080"/>
            <a:ext cx="7223760" cy="777240"/>
          </a:xfrm>
          <a:prstGeom prst="rect">
            <a:avLst/>
          </a:prstGeom>
          <a:noFill/>
          <a:ln/>
        </p:spPr>
        <p:txBody>
          <a:bodyPr wrap="square" lIns="0" tIns="0" rIns="0" bIns="0" rtlCol="0" anchor="t"/>
          <a:lstStyle/>
          <a:p>
            <a:pPr indent="0" marL="0">
              <a:buNone/>
            </a:pPr>
            <a:r>
              <a:rPr lang="en-US" sz="1400" dirty="0">
                <a:solidFill>
                  <a:schemeClr val="tx2"/>
                </a:solidFill>
              </a:rPr>
              <a:t>Asked right after the account opens. Skipping it explains the legal-heir paperwork a family would face.</a:t>
            </a:r>
            <a:endParaRPr lang="en-US" sz="1400" dirty="0"/>
          </a:p>
        </p:txBody>
      </p:sp>
      <p:sp>
        <p:nvSpPr>
          <p:cNvPr id="12" name="Alerts, TPIN and pledge risk marker"/>
          <p:cNvSpPr/>
          <p:nvPr/>
        </p:nvSpPr>
        <p:spPr>
          <a:xfrm>
            <a:off x="813816" y="4773168"/>
            <a:ext cx="384048" cy="384048"/>
          </a:xfrm>
          <a:prstGeom prst="ellipse">
            <a:avLst/>
          </a:prstGeom>
          <a:solidFill>
            <a:schemeClr val="accent1"/>
          </a:solidFill>
          <a:ln/>
        </p:spPr>
      </p:sp>
      <p:sp>
        <p:nvSpPr>
          <p:cNvPr id="13" name="Text 11"/>
          <p:cNvSpPr txBox="1"/>
          <p:nvPr/>
        </p:nvSpPr>
        <p:spPr>
          <a:xfrm>
            <a:off x="813816" y="481888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3</a:t>
            </a:r>
            <a:endParaRPr lang="en-US" sz="1400" dirty="0"/>
          </a:p>
        </p:txBody>
      </p:sp>
      <p:sp>
        <p:nvSpPr>
          <p:cNvPr id="14" name="Text 12"/>
          <p:cNvSpPr txBox="1"/>
          <p:nvPr/>
        </p:nvSpPr>
        <p:spPr>
          <a:xfrm>
            <a:off x="1408176" y="4754880"/>
            <a:ext cx="7223760" cy="384048"/>
          </a:xfrm>
          <a:prstGeom prst="rect">
            <a:avLst/>
          </a:prstGeom>
          <a:noFill/>
          <a:ln/>
        </p:spPr>
        <p:txBody>
          <a:bodyPr wrap="square" lIns="0" tIns="0" rIns="0" bIns="0" rtlCol="0" anchor="t"/>
          <a:lstStyle/>
          <a:p>
            <a:pPr indent="0" marL="0">
              <a:buNone/>
            </a:pPr>
            <a:r>
              <a:rPr lang="en-US" sz="1800" b="1" dirty="0">
                <a:solidFill>
                  <a:schemeClr val="tx1"/>
                </a:solidFill>
              </a:rPr>
              <a:t>Alerts, TPIN and pledge risk</a:t>
            </a:r>
            <a:endParaRPr lang="en-US" sz="1800" dirty="0"/>
          </a:p>
        </p:txBody>
      </p:sp>
      <p:sp>
        <p:nvSpPr>
          <p:cNvPr id="15" name="Text 13"/>
          <p:cNvSpPr txBox="1"/>
          <p:nvPr/>
        </p:nvSpPr>
        <p:spPr>
          <a:xfrm>
            <a:off x="1408176" y="5166360"/>
            <a:ext cx="7223760" cy="777240"/>
          </a:xfrm>
          <a:prstGeom prst="rect">
            <a:avLst/>
          </a:prstGeom>
          <a:noFill/>
          <a:ln/>
        </p:spPr>
        <p:txBody>
          <a:bodyPr wrap="square" lIns="0" tIns="0" rIns="0" bIns="0" rtlCol="0" anchor="t"/>
          <a:lstStyle/>
          <a:p>
            <a:pPr indent="0" marL="0">
              <a:buNone/>
            </a:pPr>
            <a:r>
              <a:rPr lang="en-US" sz="1400" dirty="0">
                <a:solidFill>
                  <a:schemeClr val="tx2"/>
                </a:solidFill>
              </a:rPr>
              <a:t>Every share movement brings a CDSL alert; every sale and pledge needs the learner’s own approval.</a:t>
            </a:r>
            <a:endParaRPr lang="en-US" sz="1400" dirty="0"/>
          </a:p>
        </p:txBody>
      </p:sp>
      <p:sp>
        <p:nvSpPr>
          <p:cNvPr id="16" name="Scam Shield phone frame"/>
          <p:cNvSpPr/>
          <p:nvPr/>
        </p:nvSpPr>
        <p:spPr>
          <a:xfrm>
            <a:off x="9217152" y="896112"/>
            <a:ext cx="2231136" cy="4334256"/>
          </a:xfrm>
          <a:prstGeom prst="roundRect">
            <a:avLst>
              <a:gd name="adj" fmla="val 11475"/>
            </a:avLst>
          </a:prstGeom>
          <a:solidFill>
            <a:srgbClr val="061615"/>
          </a:solidFill>
          <a:ln/>
        </p:spPr>
      </p:sp>
      <p:pic>
        <p:nvPicPr>
          <p:cNvPr id="17" name="Scam Shield phone" descr="Scam Shield showing a “guaranteed 300% returns” WhatsApp message with the explanation of why it is a scam">    </p:cNvPr>
          <p:cNvPicPr>
            <a:picLocks noChangeAspect="1"/>
          </p:cNvPicPr>
          <p:nvPr/>
        </p:nvPicPr>
        <p:blipFill>
          <a:blip r:embed="rId1"/>
          <a:srcRect l="0" r="0" t="0" b="0"/>
          <a:stretch/>
        </p:blipFill>
        <p:spPr>
          <a:xfrm>
            <a:off x="9281160" y="960120"/>
            <a:ext cx="2103120" cy="4206240"/>
          </a:xfrm>
          <a:prstGeom prst="rect">
            <a:avLst/>
          </a:prstGeom>
        </p:spPr>
      </p:pic>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LEARNER DASHBOARD</a:t>
            </a:r>
            <a:endParaRPr lang="en-US" sz="1200" dirty="0"/>
          </a:p>
        </p:txBody>
      </p:sp>
      <p:sp>
        <p:nvSpPr>
          <p:cNvPr id="3" name="Text 0"/>
          <p:cNvSpPr/>
          <p:nvPr>
            <p:ph idx="101" type="title" hasCustomPrompt="1"/>
          </p:nvPr>
        </p:nvSpPr>
        <p:spPr>
          <a:xfrm>
            <a:off x="813816" y="1051560"/>
            <a:ext cx="3291840" cy="1828800"/>
          </a:xfrm>
          <a:prstGeom prst="rect">
            <a:avLst/>
          </a:prstGeom>
          <a:noFill/>
          <a:ln/>
        </p:spPr>
        <p:txBody>
          <a:bodyPr wrap="square" lIns="0" tIns="0" rIns="0" bIns="0" rtlCol="0" anchor="t"/>
          <a:lstStyle/>
          <a:p>
            <a:pPr algn="l" indent="0" marL="0">
              <a:buNone/>
            </a:pPr>
            <a:r>
              <a:rPr lang="en-US" sz="3600" b="1" dirty="0">
                <a:solidFill>
                  <a:schemeClr val="tx1"/>
                </a:solidFill>
              </a:rPr>
              <a:t>Everything a learner did, on one page</a:t>
            </a:r>
            <a:endParaRPr lang="en-US" sz="3600" dirty="0"/>
          </a:p>
        </p:txBody>
      </p:sp>
      <p:sp>
        <p:nvSpPr>
          <p:cNvPr id="4" name="Text 2"/>
          <p:cNvSpPr txBox="1"/>
          <p:nvPr/>
        </p:nvSpPr>
        <p:spPr>
          <a:xfrm>
            <a:off x="813816" y="315468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Worth vs the market vs cash</a:t>
            </a:r>
            <a:endParaRPr lang="en-US" sz="1600" dirty="0"/>
          </a:p>
          <a:p>
            <a:pPr marL="342900" indent="-342900">
              <a:spcAft>
                <a:spcPts val="1000"/>
              </a:spcAft>
              <a:buSzPct val="100000"/>
              <a:buChar char="•"/>
            </a:pPr>
            <a:r>
              <a:rPr lang="en-US" sz="1600" dirty="0">
                <a:solidFill>
                  <a:schemeClr val="tx2"/>
                </a:solidFill>
              </a:rPr>
              <a:t>Every event tagged T or T+1</a:t>
            </a:r>
            <a:endParaRPr lang="en-US" sz="1600" dirty="0"/>
          </a:p>
          <a:p>
            <a:pPr marL="342900" indent="-342900">
              <a:spcAft>
                <a:spcPts val="1000"/>
              </a:spcAft>
              <a:buSzPct val="100000"/>
              <a:buChar char="•"/>
            </a:pPr>
            <a:r>
              <a:rPr lang="en-US" sz="1600" dirty="0">
                <a:solidFill>
                  <a:schemeClr val="tx2"/>
                </a:solidFill>
              </a:rPr>
              <a:t>Where the money is, and a diversification tip</a:t>
            </a:r>
            <a:endParaRPr lang="en-US" sz="1600" dirty="0"/>
          </a:p>
          <a:p>
            <a:pPr marL="342900" indent="-342900">
              <a:spcAft>
                <a:spcPts val="1000"/>
              </a:spcAft>
              <a:buSzPct val="100000"/>
              <a:buChar char="•"/>
            </a:pPr>
            <a:r>
              <a:rPr lang="en-US" sz="1600" dirty="0">
                <a:solidFill>
                  <a:schemeClr val="tx2"/>
                </a:solidFill>
              </a:rPr>
              <a:t>Learning progress and a safety check</a:t>
            </a:r>
            <a:endParaRPr lang="en-US" sz="1600" dirty="0"/>
          </a:p>
        </p:txBody>
      </p:sp>
      <p:sp>
        <p:nvSpPr>
          <p:cNvPr id="5" name="Dashboard frame"/>
          <p:cNvSpPr/>
          <p:nvPr/>
        </p:nvSpPr>
        <p:spPr>
          <a:xfrm>
            <a:off x="4492447" y="1161288"/>
            <a:ext cx="6958584" cy="4403979"/>
          </a:xfrm>
          <a:prstGeom prst="roundRect">
            <a:avLst>
              <a:gd name="adj" fmla="val 3322"/>
            </a:avLst>
          </a:prstGeom>
          <a:solidFill>
            <a:schemeClr val="bg1"/>
          </a:solidFill>
          <a:ln w="9525">
            <a:solidFill>
              <a:srgbClr val="D6E2DF"/>
            </a:solidFill>
            <a:prstDash val="solid"/>
          </a:ln>
        </p:spPr>
      </p:sp>
      <p:pic>
        <p:nvPicPr>
          <p:cNvPr id="6" name="Dashboard screenshot" descr="Full-page learner dashboard with summary tiles, a worth-versus-market chart and allocation bars">    </p:cNvPr>
          <p:cNvPicPr>
            <a:picLocks noChangeAspect="1"/>
          </p:cNvPicPr>
          <p:nvPr/>
        </p:nvPicPr>
        <p:blipFill>
          <a:blip r:embed="rId1"/>
          <a:stretch>
            <a:fillRect/>
          </a:stretch>
        </p:blipFill>
        <p:spPr>
          <a:xfrm>
            <a:off x="4565599" y="1234440"/>
            <a:ext cx="6812280" cy="4257675"/>
          </a:xfrm>
          <a:prstGeom prst="rect">
            <a:avLst/>
          </a:prstGeom>
        </p:spPr>
      </p:pic>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CLOUD BACKUP</a:t>
            </a:r>
            <a:endParaRPr lang="en-US" sz="1200" dirty="0"/>
          </a:p>
        </p:txBody>
      </p:sp>
      <p:sp>
        <p:nvSpPr>
          <p:cNvPr id="3" name="Text 0"/>
          <p:cNvSpPr/>
          <p:nvPr>
            <p:ph idx="101" type="title" hasCustomPrompt="1"/>
          </p:nvPr>
        </p:nvSpPr>
        <p:spPr>
          <a:xfrm>
            <a:off x="813816" y="1051560"/>
            <a:ext cx="7863840" cy="1097280"/>
          </a:xfrm>
          <a:prstGeom prst="rect">
            <a:avLst/>
          </a:prstGeom>
          <a:noFill/>
          <a:ln/>
        </p:spPr>
        <p:txBody>
          <a:bodyPr wrap="square" lIns="0" tIns="0" rIns="0" bIns="0" rtlCol="0" anchor="t"/>
          <a:lstStyle/>
          <a:p>
            <a:pPr algn="l" indent="0" marL="0">
              <a:buNone/>
            </a:pPr>
            <a:r>
              <a:rPr lang="en-US" sz="3600" b="1" dirty="0">
                <a:solidFill>
                  <a:schemeClr val="tx1"/>
                </a:solidFill>
              </a:rPr>
              <a:t>Your progress follows you to any phone</a:t>
            </a:r>
            <a:endParaRPr lang="en-US" sz="3600" dirty="0"/>
          </a:p>
        </p:txBody>
      </p:sp>
      <p:sp>
        <p:nvSpPr>
          <p:cNvPr id="4" name="Saved automatically marker"/>
          <p:cNvSpPr/>
          <p:nvPr/>
        </p:nvSpPr>
        <p:spPr>
          <a:xfrm>
            <a:off x="813816" y="2532888"/>
            <a:ext cx="384048" cy="384048"/>
          </a:xfrm>
          <a:prstGeom prst="ellipse">
            <a:avLst/>
          </a:prstGeom>
          <a:solidFill>
            <a:schemeClr val="accent1"/>
          </a:solidFill>
          <a:ln/>
        </p:spPr>
      </p:sp>
      <p:sp>
        <p:nvSpPr>
          <p:cNvPr id="5" name="Text 3"/>
          <p:cNvSpPr txBox="1"/>
          <p:nvPr/>
        </p:nvSpPr>
        <p:spPr>
          <a:xfrm>
            <a:off x="813816" y="257860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1</a:t>
            </a:r>
            <a:endParaRPr lang="en-US" sz="1400" dirty="0"/>
          </a:p>
        </p:txBody>
      </p:sp>
      <p:sp>
        <p:nvSpPr>
          <p:cNvPr id="6" name="Text 4"/>
          <p:cNvSpPr txBox="1"/>
          <p:nvPr/>
        </p:nvSpPr>
        <p:spPr>
          <a:xfrm>
            <a:off x="1408176" y="2514600"/>
            <a:ext cx="7223760" cy="384048"/>
          </a:xfrm>
          <a:prstGeom prst="rect">
            <a:avLst/>
          </a:prstGeom>
          <a:noFill/>
          <a:ln/>
        </p:spPr>
        <p:txBody>
          <a:bodyPr wrap="square" lIns="0" tIns="0" rIns="0" bIns="0" rtlCol="0" anchor="t"/>
          <a:lstStyle/>
          <a:p>
            <a:pPr indent="0" marL="0">
              <a:buNone/>
            </a:pPr>
            <a:r>
              <a:rPr lang="en-US" sz="1800" b="1" dirty="0">
                <a:solidFill>
                  <a:schemeClr val="tx1"/>
                </a:solidFill>
              </a:rPr>
              <a:t>Saved automatically</a:t>
            </a:r>
            <a:endParaRPr lang="en-US" sz="1800" dirty="0"/>
          </a:p>
        </p:txBody>
      </p:sp>
      <p:sp>
        <p:nvSpPr>
          <p:cNvPr id="7" name="Text 5"/>
          <p:cNvSpPr txBox="1"/>
          <p:nvPr/>
        </p:nvSpPr>
        <p:spPr>
          <a:xfrm>
            <a:off x="1408176" y="2926080"/>
            <a:ext cx="7223760" cy="777240"/>
          </a:xfrm>
          <a:prstGeom prst="rect">
            <a:avLst/>
          </a:prstGeom>
          <a:noFill/>
          <a:ln/>
        </p:spPr>
        <p:txBody>
          <a:bodyPr wrap="square" lIns="0" tIns="0" rIns="0" bIns="0" rtlCol="0" anchor="t"/>
          <a:lstStyle/>
          <a:p>
            <a:pPr indent="0" marL="0">
              <a:buNone/>
            </a:pPr>
            <a:r>
              <a:rPr lang="en-US" sz="1400" dirty="0">
                <a:solidFill>
                  <a:schemeClr val="tx2"/>
                </a:solidFill>
              </a:rPr>
              <a:t>On the hosted claude.ai page it saves to the learner’s own account with no PIN; on our own server, with mobile number and a PIN.</a:t>
            </a:r>
            <a:endParaRPr lang="en-US" sz="1400" dirty="0"/>
          </a:p>
        </p:txBody>
      </p:sp>
      <p:sp>
        <p:nvSpPr>
          <p:cNvPr id="8" name="Private by design marker"/>
          <p:cNvSpPr/>
          <p:nvPr/>
        </p:nvSpPr>
        <p:spPr>
          <a:xfrm>
            <a:off x="813816" y="3675888"/>
            <a:ext cx="384048" cy="384048"/>
          </a:xfrm>
          <a:prstGeom prst="ellipse">
            <a:avLst/>
          </a:prstGeom>
          <a:solidFill>
            <a:schemeClr val="accent1"/>
          </a:solidFill>
          <a:ln/>
        </p:spPr>
      </p:sp>
      <p:sp>
        <p:nvSpPr>
          <p:cNvPr id="9" name="Text 7"/>
          <p:cNvSpPr txBox="1"/>
          <p:nvPr/>
        </p:nvSpPr>
        <p:spPr>
          <a:xfrm>
            <a:off x="813816" y="372160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2</a:t>
            </a:r>
            <a:endParaRPr lang="en-US" sz="1400" dirty="0"/>
          </a:p>
        </p:txBody>
      </p:sp>
      <p:sp>
        <p:nvSpPr>
          <p:cNvPr id="10" name="Text 8"/>
          <p:cNvSpPr txBox="1"/>
          <p:nvPr/>
        </p:nvSpPr>
        <p:spPr>
          <a:xfrm>
            <a:off x="1408176" y="3657600"/>
            <a:ext cx="7223760" cy="384048"/>
          </a:xfrm>
          <a:prstGeom prst="rect">
            <a:avLst/>
          </a:prstGeom>
          <a:noFill/>
          <a:ln/>
        </p:spPr>
        <p:txBody>
          <a:bodyPr wrap="square" lIns="0" tIns="0" rIns="0" bIns="0" rtlCol="0" anchor="t"/>
          <a:lstStyle/>
          <a:p>
            <a:pPr indent="0" marL="0">
              <a:buNone/>
            </a:pPr>
            <a:r>
              <a:rPr lang="en-US" sz="1800" b="1" dirty="0">
                <a:solidFill>
                  <a:schemeClr val="tx1"/>
                </a:solidFill>
              </a:rPr>
              <a:t>Private by design</a:t>
            </a:r>
            <a:endParaRPr lang="en-US" sz="1800" dirty="0"/>
          </a:p>
        </p:txBody>
      </p:sp>
      <p:sp>
        <p:nvSpPr>
          <p:cNvPr id="11" name="Text 9"/>
          <p:cNvSpPr txBox="1"/>
          <p:nvPr/>
        </p:nvSpPr>
        <p:spPr>
          <a:xfrm>
            <a:off x="1408176" y="4069080"/>
            <a:ext cx="7223760" cy="777240"/>
          </a:xfrm>
          <a:prstGeom prst="rect">
            <a:avLst/>
          </a:prstGeom>
          <a:noFill/>
          <a:ln/>
        </p:spPr>
        <p:txBody>
          <a:bodyPr wrap="square" lIns="0" tIns="0" rIns="0" bIns="0" rtlCol="0" anchor="t"/>
          <a:lstStyle/>
          <a:p>
            <a:pPr indent="0" marL="0">
              <a:buNone/>
            </a:pPr>
            <a:r>
              <a:rPr lang="en-US" sz="1400" dirty="0">
                <a:solidFill>
                  <a:schemeClr val="tx2"/>
                </a:solidFill>
              </a:rPr>
              <a:t>PAN, Aadhaar, mobile and trades stay in the learner’s private space. Facilitators see only names and progress.</a:t>
            </a:r>
            <a:endParaRPr lang="en-US" sz="1400" dirty="0"/>
          </a:p>
        </p:txBody>
      </p:sp>
      <p:sp>
        <p:nvSpPr>
          <p:cNvPr id="12" name="Still works offline marker"/>
          <p:cNvSpPr/>
          <p:nvPr/>
        </p:nvSpPr>
        <p:spPr>
          <a:xfrm>
            <a:off x="813816" y="4818888"/>
            <a:ext cx="384048" cy="384048"/>
          </a:xfrm>
          <a:prstGeom prst="ellipse">
            <a:avLst/>
          </a:prstGeom>
          <a:solidFill>
            <a:schemeClr val="accent1"/>
          </a:solidFill>
          <a:ln/>
        </p:spPr>
      </p:sp>
      <p:sp>
        <p:nvSpPr>
          <p:cNvPr id="13" name="Text 11"/>
          <p:cNvSpPr txBox="1"/>
          <p:nvPr/>
        </p:nvSpPr>
        <p:spPr>
          <a:xfrm>
            <a:off x="813816" y="4864608"/>
            <a:ext cx="384048" cy="292608"/>
          </a:xfrm>
          <a:prstGeom prst="rect">
            <a:avLst/>
          </a:prstGeom>
          <a:noFill/>
          <a:ln/>
        </p:spPr>
        <p:txBody>
          <a:bodyPr wrap="square" lIns="0" tIns="0" rIns="0" bIns="0" rtlCol="0" anchor="t"/>
          <a:lstStyle/>
          <a:p>
            <a:pPr algn="ctr" indent="0" marL="0">
              <a:buNone/>
            </a:pPr>
            <a:r>
              <a:rPr lang="en-US" sz="1400" b="1" dirty="0">
                <a:solidFill>
                  <a:schemeClr val="bg1"/>
                </a:solidFill>
              </a:rPr>
              <a:t>3</a:t>
            </a:r>
            <a:endParaRPr lang="en-US" sz="1400" dirty="0"/>
          </a:p>
        </p:txBody>
      </p:sp>
      <p:sp>
        <p:nvSpPr>
          <p:cNvPr id="14" name="Text 12"/>
          <p:cNvSpPr txBox="1"/>
          <p:nvPr/>
        </p:nvSpPr>
        <p:spPr>
          <a:xfrm>
            <a:off x="1408176" y="4800600"/>
            <a:ext cx="7223760" cy="384048"/>
          </a:xfrm>
          <a:prstGeom prst="rect">
            <a:avLst/>
          </a:prstGeom>
          <a:noFill/>
          <a:ln/>
        </p:spPr>
        <p:txBody>
          <a:bodyPr wrap="square" lIns="0" tIns="0" rIns="0" bIns="0" rtlCol="0" anchor="t"/>
          <a:lstStyle/>
          <a:p>
            <a:pPr indent="0" marL="0">
              <a:buNone/>
            </a:pPr>
            <a:r>
              <a:rPr lang="en-US" sz="1800" b="1" dirty="0">
                <a:solidFill>
                  <a:schemeClr val="tx1"/>
                </a:solidFill>
              </a:rPr>
              <a:t>Still works offline</a:t>
            </a:r>
            <a:endParaRPr lang="en-US" sz="1800" dirty="0"/>
          </a:p>
        </p:txBody>
      </p:sp>
      <p:sp>
        <p:nvSpPr>
          <p:cNvPr id="15" name="Text 13"/>
          <p:cNvSpPr txBox="1"/>
          <p:nvPr/>
        </p:nvSpPr>
        <p:spPr>
          <a:xfrm>
            <a:off x="1408176" y="5212080"/>
            <a:ext cx="7223760" cy="777240"/>
          </a:xfrm>
          <a:prstGeom prst="rect">
            <a:avLst/>
          </a:prstGeom>
          <a:noFill/>
          <a:ln/>
        </p:spPr>
        <p:txBody>
          <a:bodyPr wrap="square" lIns="0" tIns="0" rIns="0" bIns="0" rtlCol="0" anchor="t"/>
          <a:lstStyle/>
          <a:p>
            <a:pPr indent="0" marL="0">
              <a:buNone/>
            </a:pPr>
            <a:r>
              <a:rPr lang="en-US" sz="1400" dirty="0">
                <a:solidFill>
                  <a:schemeClr val="tx2"/>
                </a:solidFill>
              </a:rPr>
              <a:t>With no network the app keeps going on the phone and saves again when it can.</a:t>
            </a:r>
            <a:endParaRPr lang="en-US" sz="1400" dirty="0"/>
          </a:p>
        </p:txBody>
      </p:sp>
      <p:sp>
        <p:nvSpPr>
          <p:cNvPr id="16" name="Backup phone frame"/>
          <p:cNvSpPr/>
          <p:nvPr/>
        </p:nvSpPr>
        <p:spPr>
          <a:xfrm>
            <a:off x="9217152" y="896112"/>
            <a:ext cx="2231136" cy="4334256"/>
          </a:xfrm>
          <a:prstGeom prst="roundRect">
            <a:avLst>
              <a:gd name="adj" fmla="val 11475"/>
            </a:avLst>
          </a:prstGeom>
          <a:solidFill>
            <a:srgbClr val="061615"/>
          </a:solidFill>
          <a:ln/>
        </p:spPr>
      </p:sp>
      <p:pic>
        <p:nvPicPr>
          <p:cNvPr id="17" name="Backup phone" descr="Profile screen showing Cloud backup saved to the learner’s claude.ai account and membership of the demo learning group">    </p:cNvPr>
          <p:cNvPicPr>
            <a:picLocks noChangeAspect="1"/>
          </p:cNvPicPr>
          <p:nvPr/>
        </p:nvPicPr>
        <p:blipFill>
          <a:blip r:embed="rId1"/>
          <a:srcRect l="0" r="0" t="0" b="0"/>
          <a:stretch/>
        </p:blipFill>
        <p:spPr>
          <a:xfrm>
            <a:off x="9281160" y="960120"/>
            <a:ext cx="2103120" cy="4206240"/>
          </a:xfrm>
          <a:prstGeom prst="rect">
            <a:avLst/>
          </a:prstGeom>
        </p:spPr>
      </p:pic>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4"/>
                </a:solidFill>
              </a:rPr>
              <a:t>BEYOND ONE PHONE</a:t>
            </a:r>
            <a:endParaRPr lang="en-US" sz="1200" dirty="0"/>
          </a:p>
        </p:txBody>
      </p:sp>
      <p:sp>
        <p:nvSpPr>
          <p:cNvPr id="3" name="Text 0"/>
          <p:cNvSpPr/>
          <p:nvPr>
            <p:ph idx="101" type="title" hasCustomPrompt="1"/>
          </p:nvPr>
        </p:nvSpPr>
        <p:spPr>
          <a:xfrm>
            <a:off x="813816" y="1051560"/>
            <a:ext cx="4572000" cy="2286000"/>
          </a:xfrm>
          <a:prstGeom prst="rect">
            <a:avLst/>
          </a:prstGeom>
          <a:noFill/>
          <a:ln/>
        </p:spPr>
        <p:txBody>
          <a:bodyPr wrap="square" lIns="0" tIns="0" rIns="0" bIns="0" rtlCol="0" anchor="t"/>
          <a:lstStyle/>
          <a:p>
            <a:pPr algn="l" indent="0" marL="0">
              <a:buNone/>
            </a:pPr>
            <a:r>
              <a:rPr lang="en-US" sz="3600" b="1" dirty="0">
                <a:solidFill>
                  <a:schemeClr val="bg2"/>
                </a:solidFill>
              </a:rPr>
              <a:t>Facilitators see who is stuck. CDSL sees what confuses people.</a:t>
            </a:r>
            <a:endParaRPr lang="en-US" sz="3600" dirty="0"/>
          </a:p>
        </p:txBody>
      </p:sp>
      <p:sp>
        <p:nvSpPr>
          <p:cNvPr id="4" name="Text 2"/>
          <p:cNvSpPr txBox="1"/>
          <p:nvPr/>
        </p:nvSpPr>
        <p:spPr>
          <a:xfrm>
            <a:off x="813816" y="3566160"/>
            <a:ext cx="4572000" cy="1097280"/>
          </a:xfrm>
          <a:prstGeom prst="rect">
            <a:avLst/>
          </a:prstGeom>
          <a:noFill/>
          <a:ln/>
        </p:spPr>
        <p:txBody>
          <a:bodyPr wrap="square" lIns="0" tIns="0" rIns="0" bIns="0" rtlCol="0" anchor="t"/>
          <a:lstStyle/>
          <a:p>
            <a:pPr indent="0" marL="0">
              <a:buNone/>
            </a:pPr>
            <a:r>
              <a:rPr lang="en-US" sz="1600" b="1" dirty="0">
                <a:solidFill>
                  <a:schemeClr val="accent2"/>
                </a:solidFill>
              </a:rPr>
              <a:t>SHG leaders and NGO trainers </a:t>
            </a:r>
            <a:pPr indent="0" marL="0">
              <a:buNone/>
            </a:pPr>
            <a:r>
              <a:rPr lang="en-US" sz="1600" dirty="0">
                <a:solidFill>
                  <a:schemeClr val="accent6"/>
                </a:solidFill>
              </a:rPr>
              <a:t>open the facilitator view inside the app, create a group and share a 6-letter code.</a:t>
            </a:r>
            <a:endParaRPr lang="en-US" sz="1600" dirty="0"/>
          </a:p>
        </p:txBody>
      </p:sp>
      <p:sp>
        <p:nvSpPr>
          <p:cNvPr id="5" name="Text 3"/>
          <p:cNvSpPr txBox="1"/>
          <p:nvPr/>
        </p:nvSpPr>
        <p:spPr>
          <a:xfrm>
            <a:off x="813816" y="4800600"/>
            <a:ext cx="4572000" cy="914400"/>
          </a:xfrm>
          <a:prstGeom prst="rect">
            <a:avLst/>
          </a:prstGeom>
          <a:noFill/>
          <a:ln/>
        </p:spPr>
        <p:txBody>
          <a:bodyPr wrap="square" lIns="0" tIns="0" rIns="0" bIns="0" rtlCol="0" anchor="t"/>
          <a:lstStyle/>
          <a:p>
            <a:pPr indent="0" marL="0">
              <a:buNone/>
            </a:pPr>
            <a:r>
              <a:rPr lang="en-US" sz="1600" b="1" dirty="0">
                <a:solidFill>
                  <a:schemeClr val="accent2"/>
                </a:solidFill>
              </a:rPr>
              <a:t>Anonymous insights </a:t>
            </a:r>
            <a:pPr indent="0" marL="0">
              <a:buNone/>
            </a:pPr>
            <a:r>
              <a:rPr lang="en-US" sz="1600" dirty="0">
                <a:solidFill>
                  <a:schemeClr val="accent6"/>
                </a:solidFill>
              </a:rPr>
              <a:t>show everyone which steps learners skip and which scams still fool them.</a:t>
            </a:r>
            <a:endParaRPr lang="en-US" sz="1600" dirty="0"/>
          </a:p>
        </p:txBody>
      </p:sp>
      <p:pic>
        <p:nvPicPr>
          <p:cNvPr id="6" name="Facilitator view screenshot" descr="In-app facilitator view for the demo group: group code, summary tiles and a table of learners with their steps, scam scores and nominee status">    </p:cNvPr>
          <p:cNvPicPr>
            <a:picLocks noChangeAspect="1"/>
          </p:cNvPicPr>
          <p:nvPr/>
        </p:nvPicPr>
        <p:blipFill>
          <a:blip r:embed="rId1"/>
          <a:stretch>
            <a:fillRect/>
          </a:stretch>
        </p:blipFill>
        <p:spPr>
          <a:xfrm>
            <a:off x="5715000" y="777240"/>
            <a:ext cx="5662879" cy="5251864"/>
          </a:xfrm>
          <a:prstGeom prst="rect">
            <a:avLst/>
          </a:prstGeom>
        </p:spPr>
      </p:pic>
      <p:sp>
        <p:nvSpPr>
          <p:cNvPr id="7" name="Text 4"/>
          <p:cNvSpPr txBox="1"/>
          <p:nvPr/>
        </p:nvSpPr>
        <p:spPr>
          <a:xfrm>
            <a:off x="813816" y="6035040"/>
            <a:ext cx="4572000" cy="320040"/>
          </a:xfrm>
          <a:prstGeom prst="rect">
            <a:avLst/>
          </a:prstGeom>
          <a:noFill/>
          <a:ln/>
        </p:spPr>
        <p:txBody>
          <a:bodyPr wrap="square" lIns="0" tIns="0" rIns="0" bIns="0" rtlCol="0" anchor="t"/>
          <a:lstStyle/>
          <a:p>
            <a:pPr indent="0" marL="0">
              <a:buNone/>
            </a:pPr>
            <a:r>
              <a:rPr lang="en-US" sz="1200" dirty="0">
                <a:solidFill>
                  <a:schemeClr val="accent6"/>
                </a:solidFill>
              </a:rPr>
              <a:t>Screen shows the seeded demo group; no real learner data.</a:t>
            </a:r>
            <a:endParaRPr lang="en-US" sz="12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HOW IT IS BUILT</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tx1"/>
                </a:solidFill>
              </a:rPr>
              <a:t>Offline on any phone, with two ways to sync</a:t>
            </a:r>
            <a:endParaRPr lang="en-US" sz="3600" dirty="0"/>
          </a:p>
        </p:txBody>
      </p:sp>
      <p:sp>
        <p:nvSpPr>
          <p:cNvPr id="4" name="Phone app box"/>
          <p:cNvSpPr/>
          <p:nvPr/>
        </p:nvSpPr>
        <p:spPr>
          <a:xfrm>
            <a:off x="813816" y="2148840"/>
            <a:ext cx="3291840" cy="2286000"/>
          </a:xfrm>
          <a:prstGeom prst="roundRect">
            <a:avLst>
              <a:gd name="adj" fmla="val 6400"/>
            </a:avLst>
          </a:prstGeom>
          <a:solidFill>
            <a:schemeClr val="bg1"/>
          </a:solidFill>
          <a:ln w="19050">
            <a:solidFill>
              <a:srgbClr val="0F766E"/>
            </a:solidFill>
            <a:prstDash val="solid"/>
          </a:ln>
        </p:spPr>
      </p:sp>
      <p:sp>
        <p:nvSpPr>
          <p:cNvPr id="5" name="Text 3"/>
          <p:cNvSpPr txBox="1"/>
          <p:nvPr/>
        </p:nvSpPr>
        <p:spPr>
          <a:xfrm>
            <a:off x="1069848" y="2404872"/>
            <a:ext cx="2779776" cy="411480"/>
          </a:xfrm>
          <a:prstGeom prst="rect">
            <a:avLst/>
          </a:prstGeom>
          <a:noFill/>
          <a:ln/>
        </p:spPr>
        <p:txBody>
          <a:bodyPr wrap="square" lIns="0" tIns="0" rIns="0" bIns="0" rtlCol="0" anchor="t"/>
          <a:lstStyle/>
          <a:p>
            <a:pPr indent="0" marL="0">
              <a:buNone/>
            </a:pPr>
            <a:r>
              <a:rPr lang="en-US" sz="1800" b="1" dirty="0">
                <a:solidFill>
                  <a:schemeClr val="tx1"/>
                </a:solidFill>
              </a:rPr>
              <a:t>Phone app</a:t>
            </a:r>
            <a:endParaRPr lang="en-US" sz="1800" dirty="0"/>
          </a:p>
        </p:txBody>
      </p:sp>
      <p:sp>
        <p:nvSpPr>
          <p:cNvPr id="6" name="Text 4"/>
          <p:cNvSpPr txBox="1"/>
          <p:nvPr/>
        </p:nvSpPr>
        <p:spPr>
          <a:xfrm>
            <a:off x="1069848" y="2880360"/>
            <a:ext cx="2779776" cy="1371600"/>
          </a:xfrm>
          <a:prstGeom prst="rect">
            <a:avLst/>
          </a:prstGeom>
          <a:noFill/>
          <a:ln/>
        </p:spPr>
        <p:txBody>
          <a:bodyPr wrap="square" lIns="0" tIns="0" rIns="0" bIns="0" rtlCol="0" anchor="t"/>
          <a:lstStyle/>
          <a:p>
            <a:pPr indent="0" marL="0">
              <a:buNone/>
            </a:pPr>
            <a:r>
              <a:rPr lang="en-US" sz="1300" dirty="0">
                <a:solidFill>
                  <a:schemeClr val="tx2"/>
                </a:solidFill>
              </a:rPr>
              <a:t>One 239 KB HTML file. Runs offline in Hindi and English, with progress saved on the phone.</a:t>
            </a:r>
            <a:endParaRPr lang="en-US" sz="1300" dirty="0"/>
          </a:p>
        </p:txBody>
      </p:sp>
      <p:sp>
        <p:nvSpPr>
          <p:cNvPr id="7" name="Arrow"/>
          <p:cNvSpPr/>
          <p:nvPr/>
        </p:nvSpPr>
        <p:spPr>
          <a:xfrm>
            <a:off x="4197096" y="3291840"/>
            <a:ext cx="365760" cy="0"/>
          </a:xfrm>
          <a:prstGeom prst="line">
            <a:avLst/>
          </a:prstGeom>
          <a:noFill/>
          <a:ln w="31750">
            <a:solidFill>
              <a:schemeClr val="accent1"/>
            </a:solidFill>
            <a:prstDash val="solid"/>
            <a:tailEnd type="triangle"/>
          </a:ln>
        </p:spPr>
      </p:sp>
      <p:sp>
        <p:nvSpPr>
          <p:cNvPr id="8" name="Hosted on claude.ai box"/>
          <p:cNvSpPr/>
          <p:nvPr/>
        </p:nvSpPr>
        <p:spPr>
          <a:xfrm>
            <a:off x="4654296" y="2148840"/>
            <a:ext cx="6723583" cy="1069848"/>
          </a:xfrm>
          <a:prstGeom prst="roundRect">
            <a:avLst>
              <a:gd name="adj" fmla="val 13675"/>
            </a:avLst>
          </a:prstGeom>
          <a:solidFill>
            <a:schemeClr val="accent5"/>
          </a:solidFill>
          <a:ln/>
        </p:spPr>
      </p:sp>
      <p:sp>
        <p:nvSpPr>
          <p:cNvPr id="9" name="Text 7"/>
          <p:cNvSpPr txBox="1"/>
          <p:nvPr/>
        </p:nvSpPr>
        <p:spPr>
          <a:xfrm>
            <a:off x="4928616" y="2313432"/>
            <a:ext cx="6174943" cy="365760"/>
          </a:xfrm>
          <a:prstGeom prst="rect">
            <a:avLst/>
          </a:prstGeom>
          <a:noFill/>
          <a:ln/>
        </p:spPr>
        <p:txBody>
          <a:bodyPr wrap="square" lIns="0" tIns="0" rIns="0" bIns="0" rtlCol="0" anchor="t"/>
          <a:lstStyle/>
          <a:p>
            <a:pPr indent="0" marL="0">
              <a:buNone/>
            </a:pPr>
            <a:r>
              <a:rPr lang="en-US" sz="1800" b="1" dirty="0">
                <a:solidFill>
                  <a:schemeClr val="tx1"/>
                </a:solidFill>
              </a:rPr>
              <a:t>Hosted on claude.ai</a:t>
            </a:r>
            <a:endParaRPr lang="en-US" sz="1800" dirty="0"/>
          </a:p>
        </p:txBody>
      </p:sp>
      <p:sp>
        <p:nvSpPr>
          <p:cNvPr id="10" name="Text 8"/>
          <p:cNvSpPr txBox="1"/>
          <p:nvPr/>
        </p:nvSpPr>
        <p:spPr>
          <a:xfrm>
            <a:off x="4928616" y="2697480"/>
            <a:ext cx="6174943" cy="457200"/>
          </a:xfrm>
          <a:prstGeom prst="rect">
            <a:avLst/>
          </a:prstGeom>
          <a:noFill/>
          <a:ln/>
        </p:spPr>
        <p:txBody>
          <a:bodyPr wrap="square" lIns="0" tIns="0" rIns="0" bIns="0" rtlCol="0" anchor="t"/>
          <a:lstStyle/>
          <a:p>
            <a:pPr indent="0" marL="0">
              <a:buNone/>
            </a:pPr>
            <a:r>
              <a:rPr lang="en-US" sz="1300" dirty="0">
                <a:solidFill>
                  <a:schemeClr val="tx1"/>
                </a:solidFill>
              </a:rPr>
              <a:t>Built-in database: automatic backup, groups and insights with nothing to deploy. For people in our organization.</a:t>
            </a:r>
            <a:endParaRPr lang="en-US" sz="1300" dirty="0"/>
          </a:p>
        </p:txBody>
      </p:sp>
      <p:sp>
        <p:nvSpPr>
          <p:cNvPr id="11" name="Our own server box"/>
          <p:cNvSpPr/>
          <p:nvPr/>
        </p:nvSpPr>
        <p:spPr>
          <a:xfrm>
            <a:off x="4654296" y="3364992"/>
            <a:ext cx="6723583" cy="1069848"/>
          </a:xfrm>
          <a:prstGeom prst="roundRect">
            <a:avLst>
              <a:gd name="adj" fmla="val 13675"/>
            </a:avLst>
          </a:prstGeom>
          <a:solidFill>
            <a:schemeClr val="bg1"/>
          </a:solidFill>
          <a:ln w="19050">
            <a:solidFill>
              <a:srgbClr val="0F766E"/>
            </a:solidFill>
            <a:prstDash val="solid"/>
          </a:ln>
        </p:spPr>
      </p:sp>
      <p:sp>
        <p:nvSpPr>
          <p:cNvPr id="12" name="Text 10"/>
          <p:cNvSpPr txBox="1"/>
          <p:nvPr/>
        </p:nvSpPr>
        <p:spPr>
          <a:xfrm>
            <a:off x="4928616" y="3529584"/>
            <a:ext cx="6174943" cy="365760"/>
          </a:xfrm>
          <a:prstGeom prst="rect">
            <a:avLst/>
          </a:prstGeom>
          <a:noFill/>
          <a:ln/>
        </p:spPr>
        <p:txBody>
          <a:bodyPr wrap="square" lIns="0" tIns="0" rIns="0" bIns="0" rtlCol="0" anchor="t"/>
          <a:lstStyle/>
          <a:p>
            <a:pPr indent="0" marL="0">
              <a:buNone/>
            </a:pPr>
            <a:r>
              <a:rPr lang="en-US" sz="1800" b="1" dirty="0">
                <a:solidFill>
                  <a:schemeClr val="tx1"/>
                </a:solidFill>
              </a:rPr>
              <a:t>Our own server</a:t>
            </a:r>
            <a:endParaRPr lang="en-US" sz="1800" dirty="0"/>
          </a:p>
        </p:txBody>
      </p:sp>
      <p:sp>
        <p:nvSpPr>
          <p:cNvPr id="13" name="Text 11"/>
          <p:cNvSpPr txBox="1"/>
          <p:nvPr/>
        </p:nvSpPr>
        <p:spPr>
          <a:xfrm>
            <a:off x="4928616" y="3913632"/>
            <a:ext cx="6174943" cy="457200"/>
          </a:xfrm>
          <a:prstGeom prst="rect">
            <a:avLst/>
          </a:prstGeom>
          <a:noFill/>
          <a:ln/>
        </p:spPr>
        <p:txBody>
          <a:bodyPr wrap="square" lIns="0" tIns="0" rIns="0" bIns="0" rtlCol="0" anchor="t"/>
          <a:lstStyle/>
          <a:p>
            <a:pPr indent="0" marL="0">
              <a:buNone/>
            </a:pPr>
            <a:r>
              <a:rPr lang="en-US" sz="1300" dirty="0">
                <a:solidFill>
                  <a:schemeClr val="tx2"/>
                </a:solidFill>
              </a:rPr>
              <a:t>Node.js and SQLite on any public URL. Re-checks every trade against the price engine and keeps a full depository ledger.</a:t>
            </a:r>
            <a:endParaRPr lang="en-US" sz="1300" dirty="0"/>
          </a:p>
        </p:txBody>
      </p:sp>
      <p:sp>
        <p:nvSpPr>
          <p:cNvPr id="14" name="Text 12"/>
          <p:cNvSpPr txBox="1"/>
          <p:nvPr/>
        </p:nvSpPr>
        <p:spPr>
          <a:xfrm>
            <a:off x="813816" y="4846320"/>
            <a:ext cx="2435276" cy="914400"/>
          </a:xfrm>
          <a:prstGeom prst="rect">
            <a:avLst/>
          </a:prstGeom>
          <a:noFill/>
          <a:ln/>
        </p:spPr>
        <p:txBody>
          <a:bodyPr wrap="square" lIns="0" tIns="0" rIns="0" bIns="0" rtlCol="0" anchor="t"/>
          <a:lstStyle/>
          <a:p>
            <a:pPr indent="0" marL="0">
              <a:buNone/>
            </a:pPr>
            <a:r>
              <a:rPr lang="en-US" sz="1300" b="1" dirty="0">
                <a:solidFill>
                  <a:schemeClr val="tx1"/>
                </a:solidFill>
              </a:rPr>
              <a:t>24 automated tests</a:t>
            </a:r>
            <a:pPr indent="0" marL="0">
              <a:buNone/>
            </a:pPr>
            <a:r>
              <a:rPr lang="en-US" sz="1300" dirty="0">
                <a:solidFill>
                  <a:schemeClr val="tx2"/>
                </a:solidFill>
              </a:rPr>
              <a:t>, including a price-parity check against the app</a:t>
            </a:r>
            <a:endParaRPr lang="en-US" sz="1300" dirty="0"/>
          </a:p>
        </p:txBody>
      </p:sp>
      <p:sp>
        <p:nvSpPr>
          <p:cNvPr id="15" name="Text 13"/>
          <p:cNvSpPr txBox="1"/>
          <p:nvPr/>
        </p:nvSpPr>
        <p:spPr>
          <a:xfrm>
            <a:off x="3523412" y="4846320"/>
            <a:ext cx="2435276" cy="914400"/>
          </a:xfrm>
          <a:prstGeom prst="rect">
            <a:avLst/>
          </a:prstGeom>
          <a:noFill/>
          <a:ln/>
        </p:spPr>
        <p:txBody>
          <a:bodyPr wrap="square" lIns="0" tIns="0" rIns="0" bIns="0" rtlCol="0" anchor="t"/>
          <a:lstStyle/>
          <a:p>
            <a:pPr indent="0" marL="0">
              <a:buNone/>
            </a:pPr>
            <a:r>
              <a:rPr lang="en-US" sz="1300" b="1" dirty="0">
                <a:solidFill>
                  <a:schemeClr val="tx1"/>
                </a:solidFill>
              </a:rPr>
              <a:t>Backup and restore</a:t>
            </a:r>
            <a:pPr indent="0" marL="0">
              <a:buNone/>
            </a:pPr>
            <a:r>
              <a:rPr lang="en-US" sz="1300" dirty="0">
                <a:solidFill>
                  <a:schemeClr val="tx2"/>
                </a:solidFill>
              </a:rPr>
              <a:t> across phones, with conflict handling</a:t>
            </a:r>
            <a:endParaRPr lang="en-US" sz="1300" dirty="0"/>
          </a:p>
        </p:txBody>
      </p:sp>
      <p:sp>
        <p:nvSpPr>
          <p:cNvPr id="16" name="Text 14"/>
          <p:cNvSpPr txBox="1"/>
          <p:nvPr/>
        </p:nvSpPr>
        <p:spPr>
          <a:xfrm>
            <a:off x="6233008" y="4846320"/>
            <a:ext cx="2435276" cy="914400"/>
          </a:xfrm>
          <a:prstGeom prst="rect">
            <a:avLst/>
          </a:prstGeom>
          <a:noFill/>
          <a:ln/>
        </p:spPr>
        <p:txBody>
          <a:bodyPr wrap="square" lIns="0" tIns="0" rIns="0" bIns="0" rtlCol="0" anchor="t"/>
          <a:lstStyle/>
          <a:p>
            <a:pPr indent="0" marL="0">
              <a:buNone/>
            </a:pPr>
            <a:r>
              <a:rPr lang="en-US" sz="1300" b="1" dirty="0">
                <a:solidFill>
                  <a:schemeClr val="tx1"/>
                </a:solidFill>
              </a:rPr>
              <a:t>Access rules</a:t>
            </a:r>
            <a:pPr indent="0" marL="0">
              <a:buNone/>
            </a:pPr>
            <a:r>
              <a:rPr lang="en-US" sz="1300" dirty="0">
                <a:solidFill>
                  <a:schemeClr val="tx2"/>
                </a:solidFill>
              </a:rPr>
              <a:t>: learners never see each other’s data</a:t>
            </a:r>
            <a:endParaRPr lang="en-US" sz="1300" dirty="0"/>
          </a:p>
        </p:txBody>
      </p:sp>
      <p:sp>
        <p:nvSpPr>
          <p:cNvPr id="17" name="Text 15"/>
          <p:cNvSpPr txBox="1"/>
          <p:nvPr/>
        </p:nvSpPr>
        <p:spPr>
          <a:xfrm>
            <a:off x="8942603" y="4846320"/>
            <a:ext cx="2435276" cy="914400"/>
          </a:xfrm>
          <a:prstGeom prst="rect">
            <a:avLst/>
          </a:prstGeom>
          <a:noFill/>
          <a:ln/>
        </p:spPr>
        <p:txBody>
          <a:bodyPr wrap="square" lIns="0" tIns="0" rIns="0" bIns="0" rtlCol="0" anchor="t"/>
          <a:lstStyle/>
          <a:p>
            <a:pPr indent="0" marL="0">
              <a:buNone/>
            </a:pPr>
            <a:r>
              <a:rPr lang="en-US" sz="1300" b="1" dirty="0">
                <a:solidFill>
                  <a:schemeClr val="tx1"/>
                </a:solidFill>
              </a:rPr>
              <a:t>Free to run</a:t>
            </a:r>
            <a:pPr indent="0" marL="0">
              <a:buNone/>
            </a:pPr>
            <a:r>
              <a:rPr lang="en-US" sz="1300" dirty="0">
                <a:solidFill>
                  <a:schemeClr val="tx2"/>
                </a:solidFill>
              </a:rPr>
              <a:t> on claude.ai or Render’s free plan</a:t>
            </a:r>
            <a:endParaRPr lang="en-US" sz="13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1"/>
                </a:solidFill>
              </a:rPr>
              <a:t>WHAT COMES NEXT</a:t>
            </a:r>
            <a:endParaRPr lang="en-US" sz="1200" dirty="0"/>
          </a:p>
        </p:txBody>
      </p:sp>
      <p:sp>
        <p:nvSpPr>
          <p:cNvPr id="3"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r>
              <a:rPr lang="en-US" sz="3600" b="1" dirty="0">
                <a:solidFill>
                  <a:schemeClr val="tx1"/>
                </a:solidFill>
              </a:rPr>
              <a:t>From prototype to every town, with CDSL</a:t>
            </a:r>
            <a:endParaRPr lang="en-US" sz="3600" dirty="0"/>
          </a:p>
        </p:txBody>
      </p:sp>
      <p:sp>
        <p:nvSpPr>
          <p:cNvPr id="4" name="Run it with real groups card"/>
          <p:cNvSpPr/>
          <p:nvPr/>
        </p:nvSpPr>
        <p:spPr>
          <a:xfrm>
            <a:off x="813816" y="2286000"/>
            <a:ext cx="3338474" cy="3017520"/>
          </a:xfrm>
          <a:prstGeom prst="roundRect">
            <a:avLst>
              <a:gd name="adj" fmla="val 4848"/>
            </a:avLst>
          </a:prstGeom>
          <a:solidFill>
            <a:schemeClr val="bg1"/>
          </a:solidFill>
          <a:ln/>
        </p:spPr>
      </p:sp>
      <p:sp>
        <p:nvSpPr>
          <p:cNvPr id="5" name="Text 3"/>
          <p:cNvSpPr txBox="1"/>
          <p:nvPr/>
        </p:nvSpPr>
        <p:spPr>
          <a:xfrm>
            <a:off x="1106424" y="2578608"/>
            <a:ext cx="2753258" cy="320040"/>
          </a:xfrm>
          <a:prstGeom prst="rect">
            <a:avLst/>
          </a:prstGeom>
          <a:noFill/>
          <a:ln/>
        </p:spPr>
        <p:txBody>
          <a:bodyPr wrap="square" lIns="0" tIns="0" rIns="0" bIns="0" rtlCol="0" anchor="t"/>
          <a:lstStyle/>
          <a:p>
            <a:pPr indent="0" marL="0">
              <a:buNone/>
            </a:pPr>
            <a:r>
              <a:rPr lang="en-US" sz="1200" b="1" dirty="0">
                <a:solidFill>
                  <a:schemeClr val="accent1"/>
                </a:solidFill>
              </a:rPr>
              <a:t>01 · Pilot</a:t>
            </a:r>
            <a:endParaRPr lang="en-US" sz="1200" dirty="0"/>
          </a:p>
        </p:txBody>
      </p:sp>
      <p:sp>
        <p:nvSpPr>
          <p:cNvPr id="6" name="Text 4"/>
          <p:cNvSpPr txBox="1"/>
          <p:nvPr/>
        </p:nvSpPr>
        <p:spPr>
          <a:xfrm>
            <a:off x="1106424" y="2971800"/>
            <a:ext cx="2753258" cy="868680"/>
          </a:xfrm>
          <a:prstGeom prst="rect">
            <a:avLst/>
          </a:prstGeom>
          <a:noFill/>
          <a:ln/>
        </p:spPr>
        <p:txBody>
          <a:bodyPr wrap="square" lIns="0" tIns="0" rIns="0" bIns="0" rtlCol="0" anchor="t"/>
          <a:lstStyle/>
          <a:p>
            <a:pPr indent="0" marL="0">
              <a:buNone/>
            </a:pPr>
            <a:r>
              <a:rPr lang="en-US" sz="2200" b="1" dirty="0">
                <a:solidFill>
                  <a:schemeClr val="tx1"/>
                </a:solidFill>
              </a:rPr>
              <a:t>Run it with real groups</a:t>
            </a:r>
            <a:endParaRPr lang="en-US" sz="2200" dirty="0"/>
          </a:p>
        </p:txBody>
      </p:sp>
      <p:sp>
        <p:nvSpPr>
          <p:cNvPr id="7" name="Text 5"/>
          <p:cNvSpPr txBox="1"/>
          <p:nvPr/>
        </p:nvSpPr>
        <p:spPr>
          <a:xfrm>
            <a:off x="1106424" y="3886200"/>
            <a:ext cx="2753258" cy="1280160"/>
          </a:xfrm>
          <a:prstGeom prst="rect">
            <a:avLst/>
          </a:prstGeom>
          <a:noFill/>
          <a:ln/>
        </p:spPr>
        <p:txBody>
          <a:bodyPr wrap="square" lIns="0" tIns="0" rIns="0" bIns="0" rtlCol="0" anchor="t"/>
          <a:lstStyle/>
          <a:p>
            <a:pPr indent="0" marL="0">
              <a:buNone/>
            </a:pPr>
            <a:r>
              <a:rPr lang="en-US" sz="1400" dirty="0">
                <a:solidFill>
                  <a:schemeClr val="tx2"/>
                </a:solidFill>
              </a:rPr>
              <a:t>[2–3] DPs and SHG networks in [districts]. Measure confidence before and after with a short quiz.</a:t>
            </a:r>
            <a:endParaRPr lang="en-US" sz="1400" dirty="0"/>
          </a:p>
        </p:txBody>
      </p:sp>
      <p:sp>
        <p:nvSpPr>
          <p:cNvPr id="8" name="Beyond Hindi and English card"/>
          <p:cNvSpPr/>
          <p:nvPr/>
        </p:nvSpPr>
        <p:spPr>
          <a:xfrm>
            <a:off x="4426610" y="2286000"/>
            <a:ext cx="3338474" cy="3017520"/>
          </a:xfrm>
          <a:prstGeom prst="roundRect">
            <a:avLst>
              <a:gd name="adj" fmla="val 4848"/>
            </a:avLst>
          </a:prstGeom>
          <a:solidFill>
            <a:schemeClr val="bg1"/>
          </a:solidFill>
          <a:ln/>
        </p:spPr>
      </p:sp>
      <p:sp>
        <p:nvSpPr>
          <p:cNvPr id="9" name="Text 7"/>
          <p:cNvSpPr txBox="1"/>
          <p:nvPr/>
        </p:nvSpPr>
        <p:spPr>
          <a:xfrm>
            <a:off x="4719218" y="2578608"/>
            <a:ext cx="2753258" cy="320040"/>
          </a:xfrm>
          <a:prstGeom prst="rect">
            <a:avLst/>
          </a:prstGeom>
          <a:noFill/>
          <a:ln/>
        </p:spPr>
        <p:txBody>
          <a:bodyPr wrap="square" lIns="0" tIns="0" rIns="0" bIns="0" rtlCol="0" anchor="t"/>
          <a:lstStyle/>
          <a:p>
            <a:pPr indent="0" marL="0">
              <a:buNone/>
            </a:pPr>
            <a:r>
              <a:rPr lang="en-US" sz="1200" b="1" dirty="0">
                <a:solidFill>
                  <a:schemeClr val="accent1"/>
                </a:solidFill>
              </a:rPr>
              <a:t>02 · Languages</a:t>
            </a:r>
            <a:endParaRPr lang="en-US" sz="1200" dirty="0"/>
          </a:p>
        </p:txBody>
      </p:sp>
      <p:sp>
        <p:nvSpPr>
          <p:cNvPr id="10" name="Text 8"/>
          <p:cNvSpPr txBox="1"/>
          <p:nvPr/>
        </p:nvSpPr>
        <p:spPr>
          <a:xfrm>
            <a:off x="4719218" y="2971800"/>
            <a:ext cx="2753258" cy="868680"/>
          </a:xfrm>
          <a:prstGeom prst="rect">
            <a:avLst/>
          </a:prstGeom>
          <a:noFill/>
          <a:ln/>
        </p:spPr>
        <p:txBody>
          <a:bodyPr wrap="square" lIns="0" tIns="0" rIns="0" bIns="0" rtlCol="0" anchor="t"/>
          <a:lstStyle/>
          <a:p>
            <a:pPr indent="0" marL="0">
              <a:buNone/>
            </a:pPr>
            <a:r>
              <a:rPr lang="en-US" sz="2200" b="1" dirty="0">
                <a:solidFill>
                  <a:schemeClr val="tx1"/>
                </a:solidFill>
              </a:rPr>
              <a:t>Beyond Hindi and English</a:t>
            </a:r>
            <a:endParaRPr lang="en-US" sz="2200" dirty="0"/>
          </a:p>
        </p:txBody>
      </p:sp>
      <p:sp>
        <p:nvSpPr>
          <p:cNvPr id="11" name="Text 9"/>
          <p:cNvSpPr txBox="1"/>
          <p:nvPr/>
        </p:nvSpPr>
        <p:spPr>
          <a:xfrm>
            <a:off x="4719218" y="3886200"/>
            <a:ext cx="2753258" cy="1280160"/>
          </a:xfrm>
          <a:prstGeom prst="rect">
            <a:avLst/>
          </a:prstGeom>
          <a:noFill/>
          <a:ln/>
        </p:spPr>
        <p:txBody>
          <a:bodyPr wrap="square" lIns="0" tIns="0" rIns="0" bIns="0" rtlCol="0" anchor="t"/>
          <a:lstStyle/>
          <a:p>
            <a:pPr indent="0" marL="0">
              <a:buNone/>
            </a:pPr>
            <a:r>
              <a:rPr lang="en-US" sz="1400" dirty="0">
                <a:solidFill>
                  <a:schemeClr val="tx2"/>
                </a:solidFill>
              </a:rPr>
              <a:t>Marathi, Bengali, Tamil and more. Every string already lives in one translation file.</a:t>
            </a:r>
            <a:endParaRPr lang="en-US" sz="1400" dirty="0"/>
          </a:p>
        </p:txBody>
      </p:sp>
      <p:sp>
        <p:nvSpPr>
          <p:cNvPr id="12" name="Hand off to a real account card"/>
          <p:cNvSpPr/>
          <p:nvPr/>
        </p:nvSpPr>
        <p:spPr>
          <a:xfrm>
            <a:off x="8039405" y="2286000"/>
            <a:ext cx="3338474" cy="3017520"/>
          </a:xfrm>
          <a:prstGeom prst="roundRect">
            <a:avLst>
              <a:gd name="adj" fmla="val 4848"/>
            </a:avLst>
          </a:prstGeom>
          <a:solidFill>
            <a:schemeClr val="bg1"/>
          </a:solidFill>
          <a:ln/>
        </p:spPr>
      </p:sp>
      <p:sp>
        <p:nvSpPr>
          <p:cNvPr id="13" name="Text 11"/>
          <p:cNvSpPr txBox="1"/>
          <p:nvPr/>
        </p:nvSpPr>
        <p:spPr>
          <a:xfrm>
            <a:off x="8332013" y="2578608"/>
            <a:ext cx="2753258" cy="320040"/>
          </a:xfrm>
          <a:prstGeom prst="rect">
            <a:avLst/>
          </a:prstGeom>
          <a:noFill/>
          <a:ln/>
        </p:spPr>
        <p:txBody>
          <a:bodyPr wrap="square" lIns="0" tIns="0" rIns="0" bIns="0" rtlCol="0" anchor="t"/>
          <a:lstStyle/>
          <a:p>
            <a:pPr indent="0" marL="0">
              <a:buNone/>
            </a:pPr>
            <a:r>
              <a:rPr lang="en-US" sz="1200" b="1" dirty="0">
                <a:solidFill>
                  <a:schemeClr val="accent1"/>
                </a:solidFill>
              </a:rPr>
              <a:t>03 · First real step</a:t>
            </a:r>
            <a:endParaRPr lang="en-US" sz="1200" dirty="0"/>
          </a:p>
        </p:txBody>
      </p:sp>
      <p:sp>
        <p:nvSpPr>
          <p:cNvPr id="14" name="Text 12"/>
          <p:cNvSpPr txBox="1"/>
          <p:nvPr/>
        </p:nvSpPr>
        <p:spPr>
          <a:xfrm>
            <a:off x="8332013" y="2971800"/>
            <a:ext cx="2753258" cy="868680"/>
          </a:xfrm>
          <a:prstGeom prst="rect">
            <a:avLst/>
          </a:prstGeom>
          <a:noFill/>
          <a:ln/>
        </p:spPr>
        <p:txBody>
          <a:bodyPr wrap="square" lIns="0" tIns="0" rIns="0" bIns="0" rtlCol="0" anchor="t"/>
          <a:lstStyle/>
          <a:p>
            <a:pPr indent="0" marL="0">
              <a:buNone/>
            </a:pPr>
            <a:r>
              <a:rPr lang="en-US" sz="2200" b="1" dirty="0">
                <a:solidFill>
                  <a:schemeClr val="tx1"/>
                </a:solidFill>
              </a:rPr>
              <a:t>Hand off to a real account</a:t>
            </a:r>
            <a:endParaRPr lang="en-US" sz="2200" dirty="0"/>
          </a:p>
        </p:txBody>
      </p:sp>
      <p:sp>
        <p:nvSpPr>
          <p:cNvPr id="15" name="Text 13"/>
          <p:cNvSpPr txBox="1"/>
          <p:nvPr/>
        </p:nvSpPr>
        <p:spPr>
          <a:xfrm>
            <a:off x="8332013" y="3886200"/>
            <a:ext cx="2753258" cy="1280160"/>
          </a:xfrm>
          <a:prstGeom prst="rect">
            <a:avLst/>
          </a:prstGeom>
          <a:noFill/>
          <a:ln/>
        </p:spPr>
        <p:txBody>
          <a:bodyPr wrap="square" lIns="0" tIns="0" rIns="0" bIns="0" rtlCol="0" anchor="t"/>
          <a:lstStyle/>
          <a:p>
            <a:pPr indent="0" marL="0">
              <a:buNone/>
            </a:pPr>
            <a:r>
              <a:rPr lang="en-US" sz="1400" dirty="0">
                <a:solidFill>
                  <a:schemeClr val="tx2"/>
                </a:solidFill>
              </a:rPr>
              <a:t>A guided move from practice to opening a demat account with a DP, using CDSL’s own alert and statement formats.</a:t>
            </a:r>
            <a:endParaRPr lang="en-US" sz="14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3816" y="658368"/>
            <a:ext cx="10564063" cy="347472"/>
          </a:xfrm>
          <a:prstGeom prst="rect">
            <a:avLst/>
          </a:prstGeom>
          <a:noFill/>
          <a:ln/>
        </p:spPr>
        <p:txBody>
          <a:bodyPr wrap="square" lIns="0" tIns="0" rIns="0" bIns="0" rtlCol="0" anchor="t"/>
          <a:lstStyle/>
          <a:p>
            <a:pPr indent="0" marL="0">
              <a:buNone/>
            </a:pPr>
            <a:r>
              <a:rPr lang="en-US" sz="1200" b="1" spc="200" kern="0" dirty="0">
                <a:solidFill>
                  <a:schemeClr val="accent4"/>
                </a:solidFill>
              </a:rPr>
              <a:t>TRY IT YOURSELF</a:t>
            </a:r>
            <a:endParaRPr lang="en-US" sz="1200" dirty="0"/>
          </a:p>
        </p:txBody>
      </p:sp>
      <p:sp>
        <p:nvSpPr>
          <p:cNvPr id="3" name="Text 1"/>
          <p:cNvSpPr txBox="1"/>
          <p:nvPr/>
        </p:nvSpPr>
        <p:spPr>
          <a:xfrm>
            <a:off x="813816" y="1051560"/>
            <a:ext cx="10564063" cy="914400"/>
          </a:xfrm>
          <a:prstGeom prst="rect">
            <a:avLst/>
          </a:prstGeom>
          <a:noFill/>
          <a:ln/>
        </p:spPr>
        <p:txBody>
          <a:bodyPr wrap="square" lIns="0" tIns="0" rIns="0" bIns="0" rtlCol="0" anchor="t"/>
          <a:lstStyle/>
          <a:p>
            <a:pPr indent="0" marL="0">
              <a:buNone/>
            </a:pPr>
            <a:r>
              <a:rPr lang="en-US" sz="6000" b="1" dirty="0">
                <a:solidFill>
                  <a:schemeClr val="bg2"/>
                </a:solidFill>
              </a:rPr>
              <a:t>Three minutes, </a:t>
            </a:r>
            <a:pPr indent="0" marL="0">
              <a:buNone/>
            </a:pPr>
            <a:r>
              <a:rPr lang="en-US" sz="6000" b="1" dirty="0">
                <a:solidFill>
                  <a:schemeClr val="accent2"/>
                </a:solidFill>
              </a:rPr>
              <a:t>one first step</a:t>
            </a:r>
            <a:endParaRPr lang="en-US" sz="6000" dirty="0"/>
          </a:p>
        </p:txBody>
      </p:sp>
      <p:sp>
        <p:nvSpPr>
          <p:cNvPr id="4" name="1 · Open an account rule"/>
          <p:cNvSpPr/>
          <p:nvPr/>
        </p:nvSpPr>
        <p:spPr>
          <a:xfrm>
            <a:off x="813816" y="2606040"/>
            <a:ext cx="3338474" cy="0"/>
          </a:xfrm>
          <a:prstGeom prst="line">
            <a:avLst/>
          </a:prstGeom>
          <a:noFill/>
          <a:ln w="25400">
            <a:solidFill>
              <a:schemeClr val="accent2"/>
            </a:solidFill>
            <a:prstDash val="solid"/>
          </a:ln>
        </p:spPr>
      </p:sp>
      <p:sp>
        <p:nvSpPr>
          <p:cNvPr id="5" name="Text 3"/>
          <p:cNvSpPr txBox="1"/>
          <p:nvPr/>
        </p:nvSpPr>
        <p:spPr>
          <a:xfrm>
            <a:off x="813816" y="2788920"/>
            <a:ext cx="3338474" cy="411480"/>
          </a:xfrm>
          <a:prstGeom prst="rect">
            <a:avLst/>
          </a:prstGeom>
          <a:noFill/>
          <a:ln/>
        </p:spPr>
        <p:txBody>
          <a:bodyPr wrap="square" lIns="0" tIns="0" rIns="0" bIns="0" rtlCol="0" anchor="t"/>
          <a:lstStyle/>
          <a:p>
            <a:pPr indent="0" marL="0">
              <a:buNone/>
            </a:pPr>
            <a:r>
              <a:rPr lang="en-US" sz="1600" b="1" dirty="0">
                <a:solidFill>
                  <a:schemeClr val="bg2"/>
                </a:solidFill>
              </a:rPr>
              <a:t>1 · Open an account</a:t>
            </a:r>
            <a:endParaRPr lang="en-US" sz="1600" dirty="0"/>
          </a:p>
        </p:txBody>
      </p:sp>
      <p:sp>
        <p:nvSpPr>
          <p:cNvPr id="6" name="Text 4"/>
          <p:cNvSpPr txBox="1"/>
          <p:nvPr/>
        </p:nvSpPr>
        <p:spPr>
          <a:xfrm>
            <a:off x="813816" y="3246120"/>
            <a:ext cx="3338474" cy="822960"/>
          </a:xfrm>
          <a:prstGeom prst="rect">
            <a:avLst/>
          </a:prstGeom>
          <a:noFill/>
          <a:ln/>
        </p:spPr>
        <p:txBody>
          <a:bodyPr wrap="square" lIns="0" tIns="0" rIns="0" bIns="0" rtlCol="0" anchor="t"/>
          <a:lstStyle/>
          <a:p>
            <a:pPr indent="0" marL="0">
              <a:buNone/>
            </a:pPr>
            <a:r>
              <a:rPr lang="en-US" sz="1200" dirty="0">
                <a:solidFill>
                  <a:schemeClr val="accent6"/>
                </a:solidFill>
              </a:rPr>
              <a:t>Tap “Fill demo details”, pick any broker, note your BO ID and TPIN.</a:t>
            </a:r>
            <a:endParaRPr lang="en-US" sz="1200" dirty="0"/>
          </a:p>
        </p:txBody>
      </p:sp>
      <p:sp>
        <p:nvSpPr>
          <p:cNvPr id="7" name="2 · Buy ITC on day 1 rule"/>
          <p:cNvSpPr/>
          <p:nvPr/>
        </p:nvSpPr>
        <p:spPr>
          <a:xfrm>
            <a:off x="4426610" y="2606040"/>
            <a:ext cx="3338474" cy="0"/>
          </a:xfrm>
          <a:prstGeom prst="line">
            <a:avLst/>
          </a:prstGeom>
          <a:noFill/>
          <a:ln w="25400">
            <a:solidFill>
              <a:schemeClr val="accent2"/>
            </a:solidFill>
            <a:prstDash val="solid"/>
          </a:ln>
        </p:spPr>
      </p:sp>
      <p:sp>
        <p:nvSpPr>
          <p:cNvPr id="8" name="Text 6"/>
          <p:cNvSpPr txBox="1"/>
          <p:nvPr/>
        </p:nvSpPr>
        <p:spPr>
          <a:xfrm>
            <a:off x="4426610" y="2788920"/>
            <a:ext cx="3338474" cy="411480"/>
          </a:xfrm>
          <a:prstGeom prst="rect">
            <a:avLst/>
          </a:prstGeom>
          <a:noFill/>
          <a:ln/>
        </p:spPr>
        <p:txBody>
          <a:bodyPr wrap="square" lIns="0" tIns="0" rIns="0" bIns="0" rtlCol="0" anchor="t"/>
          <a:lstStyle/>
          <a:p>
            <a:pPr indent="0" marL="0">
              <a:buNone/>
            </a:pPr>
            <a:r>
              <a:rPr lang="en-US" sz="1600" b="1" dirty="0">
                <a:solidFill>
                  <a:schemeClr val="bg2"/>
                </a:solidFill>
              </a:rPr>
              <a:t>2 · Buy ITC on day 1</a:t>
            </a:r>
            <a:endParaRPr lang="en-US" sz="1600" dirty="0"/>
          </a:p>
        </p:txBody>
      </p:sp>
      <p:sp>
        <p:nvSpPr>
          <p:cNvPr id="9" name="Text 7"/>
          <p:cNvSpPr txBox="1"/>
          <p:nvPr/>
        </p:nvSpPr>
        <p:spPr>
          <a:xfrm>
            <a:off x="4426610" y="3246120"/>
            <a:ext cx="3338474" cy="822960"/>
          </a:xfrm>
          <a:prstGeom prst="rect">
            <a:avLst/>
          </a:prstGeom>
          <a:noFill/>
          <a:ln/>
        </p:spPr>
        <p:txBody>
          <a:bodyPr wrap="square" lIns="0" tIns="0" rIns="0" bIns="0" rtlCol="0" anchor="t"/>
          <a:lstStyle/>
          <a:p>
            <a:pPr indent="0" marL="0">
              <a:buNone/>
            </a:pPr>
            <a:r>
              <a:rPr lang="en-US" sz="1200" dirty="0">
                <a:solidFill>
                  <a:schemeClr val="accent6"/>
                </a:solidFill>
              </a:rPr>
              <a:t>Tap “Next day” a few times: the CDSL alert, then the dividend on 5 June.</a:t>
            </a:r>
            <a:endParaRPr lang="en-US" sz="1200" dirty="0"/>
          </a:p>
        </p:txBody>
      </p:sp>
      <p:sp>
        <p:nvSpPr>
          <p:cNvPr id="10" name="3 · Check what you own rule"/>
          <p:cNvSpPr/>
          <p:nvPr/>
        </p:nvSpPr>
        <p:spPr>
          <a:xfrm>
            <a:off x="8039405" y="2606040"/>
            <a:ext cx="3338474" cy="0"/>
          </a:xfrm>
          <a:prstGeom prst="line">
            <a:avLst/>
          </a:prstGeom>
          <a:noFill/>
          <a:ln w="25400">
            <a:solidFill>
              <a:schemeClr val="accent2"/>
            </a:solidFill>
            <a:prstDash val="solid"/>
          </a:ln>
        </p:spPr>
      </p:sp>
      <p:sp>
        <p:nvSpPr>
          <p:cNvPr id="11" name="Text 9"/>
          <p:cNvSpPr txBox="1"/>
          <p:nvPr/>
        </p:nvSpPr>
        <p:spPr>
          <a:xfrm>
            <a:off x="8039405" y="2788920"/>
            <a:ext cx="3338474" cy="411480"/>
          </a:xfrm>
          <a:prstGeom prst="rect">
            <a:avLst/>
          </a:prstGeom>
          <a:noFill/>
          <a:ln/>
        </p:spPr>
        <p:txBody>
          <a:bodyPr wrap="square" lIns="0" tIns="0" rIns="0" bIns="0" rtlCol="0" anchor="t"/>
          <a:lstStyle/>
          <a:p>
            <a:pPr indent="0" marL="0">
              <a:buNone/>
            </a:pPr>
            <a:r>
              <a:rPr lang="en-US" sz="1600" b="1" dirty="0">
                <a:solidFill>
                  <a:schemeClr val="bg2"/>
                </a:solidFill>
              </a:rPr>
              <a:t>3 · Check what you own</a:t>
            </a:r>
            <a:endParaRPr lang="en-US" sz="1600" dirty="0"/>
          </a:p>
        </p:txBody>
      </p:sp>
      <p:sp>
        <p:nvSpPr>
          <p:cNvPr id="12" name="Text 10"/>
          <p:cNvSpPr txBox="1"/>
          <p:nvPr/>
        </p:nvSpPr>
        <p:spPr>
          <a:xfrm>
            <a:off x="8039405" y="3246120"/>
            <a:ext cx="3338474" cy="822960"/>
          </a:xfrm>
          <a:prstGeom prst="rect">
            <a:avLst/>
          </a:prstGeom>
          <a:noFill/>
          <a:ln/>
        </p:spPr>
        <p:txBody>
          <a:bodyPr wrap="square" lIns="0" tIns="0" rIns="0" bIns="0" rtlCol="0" anchor="t"/>
          <a:lstStyle/>
          <a:p>
            <a:pPr indent="0" marL="0">
              <a:buNone/>
            </a:pPr>
            <a:r>
              <a:rPr lang="en-US" sz="1200" dirty="0">
                <a:solidFill>
                  <a:schemeClr val="accent6"/>
                </a:solidFill>
              </a:rPr>
              <a:t>Open the CAS and the dashboard, then try Scam Shield.</a:t>
            </a:r>
            <a:endParaRPr lang="en-US" sz="1200" dirty="0"/>
          </a:p>
        </p:txBody>
      </p:sp>
      <p:sp>
        <p:nvSpPr>
          <p:cNvPr id="13" name="Text 11"/>
          <p:cNvSpPr txBox="1"/>
          <p:nvPr/>
        </p:nvSpPr>
        <p:spPr>
          <a:xfrm>
            <a:off x="813816" y="4800600"/>
            <a:ext cx="10564063" cy="457200"/>
          </a:xfrm>
          <a:prstGeom prst="rect">
            <a:avLst/>
          </a:prstGeom>
          <a:noFill/>
          <a:ln/>
        </p:spPr>
        <p:txBody>
          <a:bodyPr wrap="square" lIns="0" tIns="0" rIns="0" bIns="0" rtlCol="0" anchor="t"/>
          <a:lstStyle/>
          <a:p>
            <a:pPr indent="0" marL="0">
              <a:buNone/>
            </a:pPr>
            <a:r>
              <a:rPr lang="en-US" sz="1600" dirty="0">
                <a:solidFill>
                  <a:schemeClr val="bg2"/>
                </a:solidFill>
              </a:rPr>
              <a:t>Live demo: </a:t>
            </a:r>
            <a:pPr indent="0" marL="0">
              <a:buNone/>
            </a:pPr>
            <a:r>
              <a:rPr lang="en-US" sz="1600" b="1" dirty="0">
                <a:solidFill>
                  <a:schemeClr val="bg2"/>
                </a:solidFill>
              </a:rPr>
              <a:t>[Render URL]</a:t>
            </a:r>
            <a:pPr indent="0" marL="0">
              <a:buNone/>
            </a:pPr>
            <a:r>
              <a:rPr lang="en-US" sz="1600" dirty="0">
                <a:solidFill>
                  <a:schemeClr val="bg2"/>
                </a:solidFill>
              </a:rPr>
              <a:t>  ·  Code: </a:t>
            </a:r>
            <a:pPr indent="0" marL="0">
              <a:buNone/>
            </a:pPr>
            <a:r>
              <a:rPr lang="en-US" sz="1600" b="1"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github.com/TushKum/cdsl</a:t>
            </a:r>
            <a:endParaRPr lang="en-US" sz="1600" dirty="0"/>
          </a:p>
        </p:txBody>
      </p:sp>
      <p:sp>
        <p:nvSpPr>
          <p:cNvPr id="14" name="Text 12"/>
          <p:cNvSpPr txBox="1"/>
          <p:nvPr/>
        </p:nvSpPr>
        <p:spPr>
          <a:xfrm>
            <a:off x="813816" y="5303520"/>
            <a:ext cx="10564063" cy="365760"/>
          </a:xfrm>
          <a:prstGeom prst="rect">
            <a:avLst/>
          </a:prstGeom>
          <a:noFill/>
          <a:ln/>
        </p:spPr>
        <p:txBody>
          <a:bodyPr wrap="square" lIns="0" tIns="0" rIns="0" bIns="0" rtlCol="0" anchor="t"/>
          <a:lstStyle/>
          <a:p>
            <a:pPr indent="0" marL="0">
              <a:buNone/>
            </a:pPr>
            <a:r>
              <a:rPr lang="en-US" sz="1200" dirty="0">
                <a:solidFill>
                  <a:schemeClr val="accent6"/>
                </a:solidFill>
              </a:rPr>
              <a:t>[Team name] · [Contact email] · All money, accounts and prices in the prototype are simulated.</a:t>
            </a:r>
            <a:endParaRPr lang="en-US" sz="1200" dirty="0"/>
          </a:p>
        </p:txBody>
      </p:sp>
      <p:sp>
        <p:nvSpPr>
          <p:cNvPr id="16" name="Text 0"/>
          <p:cNvSpPr/>
          <p:nvPr>
            <p:ph idx="101" type="title" hasCustomPrompt="1"/>
          </p:nvPr>
        </p:nvSpPr>
        <p:spPr>
          <a:xfrm>
            <a:off x="813816" y="1051560"/>
            <a:ext cx="10564063" cy="109728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09728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ehla Kadam">
  <a:themeElements>
    <a:clrScheme name="Pehla Kadam">
      <a:dk1>
        <a:srgbClr val="0C2A28"/>
      </a:dk1>
      <a:lt1>
        <a:srgbClr val="FFFFFF"/>
      </a:lt1>
      <a:dk2>
        <a:srgbClr val="44524F"/>
      </a:dk2>
      <a:lt2>
        <a:srgbClr val="F2F6F5"/>
      </a:lt2>
      <a:accent1>
        <a:srgbClr val="0F766E"/>
      </a:accent1>
      <a:accent2>
        <a:srgbClr val="F2A93B"/>
      </a:accent2>
      <a:accent3>
        <a:srgbClr val="8A5604"/>
      </a:accent3>
      <a:accent4>
        <a:srgbClr val="7FE3D3"/>
      </a:accent4>
      <a:accent5>
        <a:srgbClr val="DFF1ED"/>
      </a:accent5>
      <a:accent6>
        <a:srgbClr val="BFD8D5"/>
      </a:accent6>
      <a:hlink>
        <a:srgbClr val="0F766E"/>
      </a:hlink>
      <a:folHlink>
        <a:srgbClr val="0B5D57"/>
      </a:folHlink>
    </a:clrScheme>
    <a:fontScheme name="Pehla Kad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Pehla Kadam pitch</dc:title>
  <dc:subject>PptxGenJS Presentation</dc:subject>
  <dc:creator>[Team name]</dc:creator>
  <cp:lastModifiedBy>[Team name]</cp:lastModifiedBy>
  <cp:revision>1</cp:revision>
  <dcterms:created xsi:type="dcterms:W3CDTF">2026-10-28T19:28:41Z</dcterms:created>
  <dcterms:modified xsi:type="dcterms:W3CDTF">2026-10-28T19:28:41Z</dcterms:modified>
</cp:coreProperties>
</file>